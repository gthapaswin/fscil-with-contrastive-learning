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79E8A"/>
                </a:solidFill>
                <a:latin typeface="Calibri"/>
              </a:rPr>
              <a:t>FEW-SHOT CLASS-INCREMENTAL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607040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STAG-STI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060704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Spatio-Temporal Graph Integration with Contrastive Pre-Conditioning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for Forward-Compatible Few-Shot Class-Incremental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977639"/>
            <a:ext cx="4023360" cy="25400"/>
          </a:xfrm>
          <a:prstGeom prst="rect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106070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C9D4E4"/>
                </a:solidFill>
                <a:latin typeface="Calibri"/>
              </a:rPr>
              <a:t>Evaluated on CIFAR-100 · miniImageNet · CUB-200 + Cross-Domain Transfer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A6778"/>
                </a:solidFill>
                <a:latin typeface="Calibri"/>
              </a:rPr>
              <a:t>Official CEC / FACT splits · full ablation &amp; improvement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69280"/>
            <a:ext cx="106070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Review 2  · 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D6CDF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1B2E"/>
                </a:solidFill>
                <a:latin typeface="Calibri"/>
              </a:rPr>
              <a:t>The Problem: Learning Continuously from Few Examples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solidFill>
            <a:srgbClr val="EB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STAG-STI · Few-Shot Class-Incremental Learning · Review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5943600" cy="45720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2D6CDF"/>
                </a:solidFill>
                <a:latin typeface="Calibri"/>
              </a:rPr>
              <a:t>●  </a:t>
            </a:r>
            <a:r>
              <a:rPr sz="1500" b="1">
                <a:solidFill>
                  <a:srgbClr val="141B2E"/>
                </a:solidFill>
                <a:latin typeface="Calibri"/>
              </a:rPr>
              <a:t>Real-world models must keep learning</a:t>
            </a:r>
            <a:r>
              <a:rPr sz="1500" b="0">
                <a:solidFill>
                  <a:srgbClr val="141B2E"/>
                </a:solidFill>
                <a:latin typeface="Calibri"/>
              </a:rPr>
              <a:t> new categories after deployment — a medical system meets a new disease, a retail model a new product.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2D6CDF"/>
                </a:solidFill>
                <a:latin typeface="Calibri"/>
              </a:rPr>
              <a:t>●  </a:t>
            </a:r>
            <a:r>
              <a:rPr sz="1500" b="0">
                <a:solidFill>
                  <a:srgbClr val="141B2E"/>
                </a:solidFill>
                <a:latin typeface="Calibri"/>
              </a:rPr>
              <a:t>New classes arrive with </a:t>
            </a:r>
            <a:r>
              <a:rPr sz="1500" b="1">
                <a:solidFill>
                  <a:srgbClr val="141B2E"/>
                </a:solidFill>
                <a:latin typeface="Calibri"/>
              </a:rPr>
              <a:t>only a handful of labelled examples</a:t>
            </a:r>
            <a:r>
              <a:rPr sz="1500" b="0">
                <a:solidFill>
                  <a:srgbClr val="141B2E"/>
                </a:solidFill>
                <a:latin typeface="Calibri"/>
              </a:rPr>
              <a:t> (5-shot), not the thousands used in base training.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2D6CDF"/>
                </a:solidFill>
                <a:latin typeface="Calibri"/>
              </a:rPr>
              <a:t>●  </a:t>
            </a:r>
            <a:r>
              <a:rPr sz="1500" b="1">
                <a:solidFill>
                  <a:srgbClr val="141B2E"/>
                </a:solidFill>
                <a:latin typeface="Calibri"/>
              </a:rPr>
              <a:t>Catastrophic forgetting:</a:t>
            </a:r>
            <a:r>
              <a:rPr sz="1500" b="0">
                <a:solidFill>
                  <a:srgbClr val="141B2E"/>
                </a:solidFill>
                <a:latin typeface="Calibri"/>
              </a:rPr>
              <a:t> naively fine-tuning on new classes destroys knowledge of old ones.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2D6CDF"/>
                </a:solidFill>
                <a:latin typeface="Calibri"/>
              </a:rPr>
              <a:t>●  </a:t>
            </a:r>
            <a:r>
              <a:rPr sz="1500" b="1">
                <a:solidFill>
                  <a:srgbClr val="141B2E"/>
                </a:solidFill>
                <a:latin typeface="Calibri"/>
              </a:rPr>
              <a:t>Overfitting:</a:t>
            </a:r>
            <a:r>
              <a:rPr sz="1500" b="0">
                <a:solidFill>
                  <a:srgbClr val="141B2E"/>
                </a:solidFill>
                <a:latin typeface="Calibri"/>
              </a:rPr>
              <a:t> 5 examples are far too few to train a deep network from scratch.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2D6CDF"/>
                </a:solidFill>
                <a:latin typeface="Calibri"/>
              </a:rPr>
              <a:t>●  </a:t>
            </a:r>
            <a:r>
              <a:rPr sz="1500" b="0">
                <a:solidFill>
                  <a:srgbClr val="141B2E"/>
                </a:solidFill>
                <a:latin typeface="Calibri"/>
              </a:rPr>
              <a:t>FSCIL must balance </a:t>
            </a:r>
            <a:r>
              <a:rPr sz="1500" b="1">
                <a:solidFill>
                  <a:srgbClr val="141B2E"/>
                </a:solidFill>
                <a:latin typeface="Calibri"/>
              </a:rPr>
              <a:t>stability</a:t>
            </a:r>
            <a:r>
              <a:rPr sz="1500" b="0">
                <a:solidFill>
                  <a:srgbClr val="141B2E"/>
                </a:solidFill>
                <a:latin typeface="Calibri"/>
              </a:rPr>
              <a:t> (retain old) and </a:t>
            </a:r>
            <a:r>
              <a:rPr sz="1500" b="1">
                <a:solidFill>
                  <a:srgbClr val="141B2E"/>
                </a:solidFill>
                <a:latin typeface="Calibri"/>
              </a:rPr>
              <a:t>plasticity</a:t>
            </a:r>
            <a:r>
              <a:rPr sz="1500" b="0">
                <a:solidFill>
                  <a:srgbClr val="141B2E"/>
                </a:solidFill>
                <a:latin typeface="Calibri"/>
              </a:rPr>
              <a:t> (absorb new) at once.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1371600"/>
            <a:ext cx="4892040" cy="4297680"/>
          </a:xfrm>
          <a:prstGeom prst="rect">
            <a:avLst/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554480"/>
            <a:ext cx="44805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The FSCIL dilemma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48840"/>
            <a:ext cx="448056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41B2E"/>
                </a:solidFill>
                <a:latin typeface="Calibri"/>
              </a:rPr>
              <a:t>Stability  ⇄  Plasticity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2880360"/>
            <a:ext cx="4434840" cy="19050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3063240"/>
            <a:ext cx="4434840" cy="24688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E08A1E"/>
                </a:solidFill>
                <a:latin typeface="Calibri"/>
              </a:rPr>
              <a:t>▸  </a:t>
            </a:r>
            <a:r>
              <a:rPr sz="1300" b="1">
                <a:solidFill>
                  <a:srgbClr val="141B2E"/>
                </a:solidFill>
                <a:latin typeface="Calibri"/>
              </a:rPr>
              <a:t>Too much plasticity</a:t>
            </a:r>
            <a:r>
              <a:rPr sz="1300" b="0">
                <a:solidFill>
                  <a:srgbClr val="141B2E"/>
                </a:solidFill>
                <a:latin typeface="Calibri"/>
              </a:rPr>
              <a:t> → forgets base classes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E08A1E"/>
                </a:solidFill>
                <a:latin typeface="Calibri"/>
              </a:rPr>
              <a:t>▸  </a:t>
            </a:r>
            <a:r>
              <a:rPr sz="1300" b="1">
                <a:solidFill>
                  <a:srgbClr val="141B2E"/>
                </a:solidFill>
                <a:latin typeface="Calibri"/>
              </a:rPr>
              <a:t>Too much stability</a:t>
            </a:r>
            <a:r>
              <a:rPr sz="1300" b="0">
                <a:solidFill>
                  <a:srgbClr val="141B2E"/>
                </a:solidFill>
                <a:latin typeface="Calibri"/>
              </a:rPr>
              <a:t> → can't learn novel classes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E08A1E"/>
                </a:solidFill>
                <a:latin typeface="Calibri"/>
              </a:rPr>
              <a:t>▸  </a:t>
            </a:r>
            <a:r>
              <a:rPr sz="1300" b="1">
                <a:solidFill>
                  <a:srgbClr val="141B2E"/>
                </a:solidFill>
                <a:latin typeface="Calibri"/>
              </a:rPr>
              <a:t>Few shots</a:t>
            </a:r>
            <a:r>
              <a:rPr sz="1300" b="0">
                <a:solidFill>
                  <a:srgbClr val="141B2E"/>
                </a:solidFill>
                <a:latin typeface="Calibri"/>
              </a:rPr>
              <a:t> → prototypes are noisy &amp; biased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E08A1E"/>
                </a:solidFill>
                <a:latin typeface="Calibri"/>
              </a:rPr>
              <a:t>▸  </a:t>
            </a:r>
            <a:r>
              <a:rPr sz="1300" b="1">
                <a:solidFill>
                  <a:srgbClr val="141B2E"/>
                </a:solidFill>
                <a:latin typeface="Calibri"/>
              </a:rPr>
              <a:t>No replay</a:t>
            </a:r>
            <a:r>
              <a:rPr sz="1300" b="0">
                <a:solidFill>
                  <a:srgbClr val="141B2E"/>
                </a:solidFill>
                <a:latin typeface="Calibri"/>
              </a:rPr>
              <a:t> → cannot revisit old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D6CDF"/>
                </a:solidFill>
                <a:latin typeface="Calibri"/>
              </a:rP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1B2E"/>
                </a:solidFill>
                <a:latin typeface="Calibri"/>
              </a:rPr>
              <a:t>Research Objective &amp; Project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solidFill>
            <a:srgbClr val="EB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STAG-STI · Few-Shot Class-Incremental Learning · Review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8016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79E8A"/>
                </a:solidFill>
                <a:latin typeface="Calibri"/>
              </a:rPr>
              <a:t>Goal: </a:t>
            </a:r>
            <a:r>
              <a:rPr sz="1700" b="0">
                <a:solidFill>
                  <a:srgbClr val="141B2E"/>
                </a:solidFill>
                <a:latin typeface="Calibri"/>
              </a:rPr>
              <a:t>Design and validate a forward-compatible FSCIL system that maximises novel-class learning without forgetting — and quantify every design choice.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40280"/>
            <a:ext cx="3611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240280"/>
            <a:ext cx="3611880" cy="4572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40280"/>
            <a:ext cx="36118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34640"/>
            <a:ext cx="324612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Implement the full STAG-STI 8-stage pipeline: contrastive pre-conditioning + topology-aware graph attention + age-decaying memory.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0832" y="2240280"/>
            <a:ext cx="3611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2240280"/>
            <a:ext cx="3611880" cy="457200"/>
          </a:xfrm>
          <a:prstGeom prst="rect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2240280"/>
            <a:ext cx="36118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834640"/>
            <a:ext cx="324612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Benchmark on 3 standard datasets on official splits, plus a cross-domain transfer test. Report the full FSCIL metric set.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38744" y="2240280"/>
            <a:ext cx="36118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38744" y="2240280"/>
            <a:ext cx="3611880" cy="45720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2240280"/>
            <a:ext cx="36118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1624" y="2834640"/>
            <a:ext cx="324612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Ablate every component, run an evidence-driven improvement study, and identify the true accuracy bottleneck.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937760"/>
            <a:ext cx="1115568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Key design decisions:  </a:t>
            </a:r>
            <a:r>
              <a:rPr sz="1300" b="0">
                <a:solidFill>
                  <a:srgbClr val="5A6778"/>
                </a:solidFill>
                <a:latin typeface="Calibri"/>
              </a:rPr>
              <a:t>official CEC/FACT splits · exact official few-shot support samples · deterministic fantasy views · CUB novel sessions 10-way · frozen backbone at incremental time · no exemplar replay.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D6CDF"/>
                </a:solidFill>
                <a:latin typeface="Calibri"/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1B2E"/>
                </a:solidFill>
                <a:latin typeface="Calibri"/>
              </a:rPr>
              <a:t>FSCIL Protocol: How Evaluation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solidFill>
            <a:srgbClr val="EB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STAG-STI · Few-Shot Class-Incremental Learning · Review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5852160" cy="45720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2D6CDF"/>
                </a:solidFill>
                <a:latin typeface="Calibri"/>
              </a:rPr>
              <a:t>●  </a:t>
            </a:r>
            <a:r>
              <a:rPr sz="1450" b="1">
                <a:solidFill>
                  <a:srgbClr val="141B2E"/>
                </a:solidFill>
                <a:latin typeface="Calibri"/>
              </a:rPr>
              <a:t>Session 0 (base):</a:t>
            </a:r>
            <a:r>
              <a:rPr sz="1450" b="0">
                <a:solidFill>
                  <a:srgbClr val="141B2E"/>
                </a:solidFill>
                <a:latin typeface="Calibri"/>
              </a:rPr>
              <a:t> many classes, abundant data — trains the backbone.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2D6CDF"/>
                </a:solidFill>
                <a:latin typeface="Calibri"/>
              </a:rPr>
              <a:t>●  </a:t>
            </a:r>
            <a:r>
              <a:rPr sz="1450" b="1">
                <a:solidFill>
                  <a:srgbClr val="141B2E"/>
                </a:solidFill>
                <a:latin typeface="Calibri"/>
              </a:rPr>
              <a:t>Sessions 1…T (incremental):</a:t>
            </a:r>
            <a:r>
              <a:rPr sz="1450" b="0">
                <a:solidFill>
                  <a:srgbClr val="141B2E"/>
                </a:solidFill>
                <a:latin typeface="Calibri"/>
              </a:rPr>
              <a:t> each adds N new classes with K shots (N-way K-shot).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2D6CDF"/>
                </a:solidFill>
                <a:latin typeface="Calibri"/>
              </a:rPr>
              <a:t>●  </a:t>
            </a:r>
            <a:r>
              <a:rPr sz="1450" b="1">
                <a:solidFill>
                  <a:srgbClr val="141B2E"/>
                </a:solidFill>
                <a:latin typeface="Calibri"/>
              </a:rPr>
              <a:t>Disjoint label spaces:</a:t>
            </a:r>
            <a:r>
              <a:rPr sz="1450" b="0">
                <a:solidFill>
                  <a:srgbClr val="141B2E"/>
                </a:solidFill>
                <a:latin typeface="Calibri"/>
              </a:rPr>
              <a:t> a class appears in exactly one session.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2D6CDF"/>
                </a:solidFill>
                <a:latin typeface="Calibri"/>
              </a:rPr>
              <a:t>●  </a:t>
            </a:r>
            <a:r>
              <a:rPr sz="1450" b="1">
                <a:solidFill>
                  <a:srgbClr val="141B2E"/>
                </a:solidFill>
                <a:latin typeface="Calibri"/>
              </a:rPr>
              <a:t>Global evaluation:</a:t>
            </a:r>
            <a:r>
              <a:rPr sz="1450" b="0">
                <a:solidFill>
                  <a:srgbClr val="141B2E"/>
                </a:solidFill>
                <a:latin typeface="Calibri"/>
              </a:rPr>
              <a:t> after each session, test over *all* classes seen so far.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2D6CDF"/>
                </a:solidFill>
                <a:latin typeface="Calibri"/>
              </a:rPr>
              <a:t>●  </a:t>
            </a:r>
            <a:r>
              <a:rPr sz="1450" b="1">
                <a:solidFill>
                  <a:srgbClr val="141B2E"/>
                </a:solidFill>
                <a:latin typeface="Calibri"/>
              </a:rPr>
              <a:t>Frozen backbone:</a:t>
            </a:r>
            <a:r>
              <a:rPr sz="1450" b="0">
                <a:solidFill>
                  <a:srgbClr val="141B2E"/>
                </a:solidFill>
                <a:latin typeface="Calibri"/>
              </a:rPr>
              <a:t> after base training, weights never change — only prototypes are added.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2D6CDF"/>
                </a:solidFill>
                <a:latin typeface="Calibri"/>
              </a:rPr>
              <a:t>●  </a:t>
            </a:r>
            <a:r>
              <a:rPr sz="1450" b="1">
                <a:solidFill>
                  <a:srgbClr val="141B2E"/>
                </a:solidFill>
                <a:latin typeface="Calibri"/>
              </a:rPr>
              <a:t>Nearest-prototype classification:</a:t>
            </a:r>
            <a:r>
              <a:rPr sz="1450" b="0">
                <a:solidFill>
                  <a:srgbClr val="141B2E"/>
                </a:solidFill>
                <a:latin typeface="Calibri"/>
              </a:rPr>
              <a:t> cosine similarity to stored class prototypes.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1371600"/>
            <a:ext cx="5029200" cy="4297680"/>
          </a:xfrm>
          <a:prstGeom prst="rect">
            <a:avLst/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536192"/>
            <a:ext cx="4572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3A5F"/>
                </a:solidFill>
                <a:latin typeface="Calibri"/>
              </a:rPr>
              <a:t>Session timeline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20" y="2286000"/>
            <a:ext cx="777240" cy="7772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286000"/>
            <a:ext cx="7772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S0
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45552" y="2286000"/>
            <a:ext cx="777240" cy="77724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286000"/>
            <a:ext cx="7772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87384" y="2286000"/>
            <a:ext cx="777240" cy="77724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87384" y="2286000"/>
            <a:ext cx="7772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29216" y="2286000"/>
            <a:ext cx="777240" cy="777240"/>
          </a:xfrm>
          <a:prstGeom prst="rect">
            <a:avLst/>
          </a:prstGeom>
          <a:solidFill>
            <a:srgbClr val="5A6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29216" y="2286000"/>
            <a:ext cx="7772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71048" y="2286000"/>
            <a:ext cx="777240" cy="777240"/>
          </a:xfrm>
          <a:prstGeom prst="rect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71048" y="2286000"/>
            <a:ext cx="7772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S_T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383280"/>
            <a:ext cx="4572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A6778"/>
                </a:solidFill>
                <a:latin typeface="Calibri"/>
              </a:rPr>
              <a:t>classes seen grows each session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840480"/>
            <a:ext cx="4572000" cy="17373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E08A1E"/>
                </a:solidFill>
                <a:latin typeface="Calibri"/>
              </a:rPr>
              <a:t>▸  </a:t>
            </a:r>
            <a:r>
              <a:rPr sz="1300" b="0">
                <a:solidFill>
                  <a:srgbClr val="141B2E"/>
                </a:solidFill>
                <a:latin typeface="Calibri"/>
              </a:rPr>
              <a:t>Accuracy naturally </a:t>
            </a:r>
            <a:r>
              <a:rPr sz="1300" b="1">
                <a:solidFill>
                  <a:srgbClr val="141B2E"/>
                </a:solidFill>
                <a:latin typeface="Calibri"/>
              </a:rPr>
              <a:t>declines</a:t>
            </a:r>
            <a:r>
              <a:rPr sz="1300" b="0">
                <a:solidFill>
                  <a:srgbClr val="141B2E"/>
                </a:solidFill>
                <a:latin typeface="Calibri"/>
              </a:rPr>
              <a:t> as more classes compete.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E08A1E"/>
                </a:solidFill>
                <a:latin typeface="Calibri"/>
              </a:rPr>
              <a:t>▸  </a:t>
            </a:r>
            <a:r>
              <a:rPr sz="1300" b="0">
                <a:solidFill>
                  <a:srgbClr val="141B2E"/>
                </a:solidFill>
                <a:latin typeface="Calibri"/>
              </a:rPr>
              <a:t>Success = a </a:t>
            </a:r>
            <a:r>
              <a:rPr sz="1300" b="1">
                <a:solidFill>
                  <a:srgbClr val="141B2E"/>
                </a:solidFill>
                <a:latin typeface="Calibri"/>
              </a:rPr>
              <a:t>slow, graceful</a:t>
            </a:r>
            <a:r>
              <a:rPr sz="1300" b="0">
                <a:solidFill>
                  <a:srgbClr val="141B2E"/>
                </a:solidFill>
                <a:latin typeface="Calibri"/>
              </a:rPr>
              <a:t> decline, not a cliff.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D6CD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1B2E"/>
                </a:solidFill>
                <a:latin typeface="Calibri"/>
              </a:rPr>
              <a:t>STAG-STI Pipeline — End to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solidFill>
            <a:srgbClr val="EB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STAG-STI · Few-Shot Class-Incremental Learning · Review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A6778"/>
                </a:solidFill>
                <a:latin typeface="Calibri"/>
              </a:rPr>
              <a:t>Eight stages turn a few raw images into a robust, forward-compatible class prototype: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828800"/>
            <a:ext cx="91440" cy="10515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1956816"/>
            <a:ext cx="2423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41B2E"/>
                </a:solidFill>
                <a:latin typeface="Calibri"/>
              </a:rPr>
              <a:t>1  Fantasy Views ×M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359152"/>
            <a:ext cx="2423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778"/>
                </a:solidFill>
                <a:latin typeface="Calibri"/>
              </a:rPr>
              <a:t>Deterministic multi-view augmentation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2148840"/>
            <a:ext cx="23774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A6778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82880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828800"/>
            <a:ext cx="91440" cy="10515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2736" y="1956816"/>
            <a:ext cx="2423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41B2E"/>
                </a:solidFill>
                <a:latin typeface="Calibri"/>
              </a:rPr>
              <a:t>2  Frozen Backbone fθ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2736" y="2359152"/>
            <a:ext cx="2423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778"/>
                </a:solidFill>
                <a:latin typeface="Calibri"/>
              </a:rPr>
              <a:t>ResNet-18 → 512-d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148840"/>
            <a:ext cx="23774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A6778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0216" y="182880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0216" y="1828800"/>
            <a:ext cx="91440" cy="10515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1956816"/>
            <a:ext cx="2423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41B2E"/>
                </a:solidFill>
                <a:latin typeface="Calibri"/>
              </a:rPr>
              <a:t>3  Projection Wₚ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2359152"/>
            <a:ext cx="2423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778"/>
                </a:solidFill>
                <a:latin typeface="Calibri"/>
              </a:rPr>
              <a:t>512-d → 256-d bottleneck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8" y="2148840"/>
            <a:ext cx="23774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A6778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98864" y="1828800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98864" y="1828800"/>
            <a:ext cx="91440" cy="1051560"/>
          </a:xfrm>
          <a:prstGeom prst="rect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1956816"/>
            <a:ext cx="2423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41B2E"/>
                </a:solidFill>
                <a:latin typeface="Calibri"/>
              </a:rPr>
              <a:t>4  SupCon Head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2359152"/>
            <a:ext cx="2423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778"/>
                </a:solidFill>
                <a:latin typeface="Calibri"/>
              </a:rPr>
              <a:t>Contrastive pre-conditioning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136392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136392"/>
            <a:ext cx="91440" cy="1051560"/>
          </a:xfrm>
          <a:prstGeom prst="rect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3264408"/>
            <a:ext cx="2423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41B2E"/>
                </a:solidFill>
                <a:latin typeface="Calibri"/>
              </a:rPr>
              <a:t>5  Topology Scorer gφ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" y="3666744"/>
            <a:ext cx="2423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778"/>
                </a:solidFill>
                <a:latin typeface="Calibri"/>
              </a:rPr>
              <a:t>Learns the view/class graph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82112" y="3456432"/>
            <a:ext cx="23774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A6778"/>
                </a:solidFill>
                <a:latin typeface="Calibri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01568" y="3136392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01568" y="3136392"/>
            <a:ext cx="91440" cy="10515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02736" y="3264408"/>
            <a:ext cx="2423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41B2E"/>
                </a:solidFill>
                <a:latin typeface="Calibri"/>
              </a:rPr>
              <a:t>6  GATv2 Attention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02736" y="3666744"/>
            <a:ext cx="2423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778"/>
                </a:solidFill>
                <a:latin typeface="Calibri"/>
              </a:rPr>
              <a:t>Message passing over the graph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3456432"/>
            <a:ext cx="23774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A6778"/>
                </a:solidFill>
                <a:latin typeface="Calibr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0216" y="3136392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0216" y="3136392"/>
            <a:ext cx="91440" cy="10515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01384" y="3264408"/>
            <a:ext cx="2423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41B2E"/>
                </a:solidFill>
                <a:latin typeface="Calibri"/>
              </a:rPr>
              <a:t>7  Prototype Pooling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01384" y="3666744"/>
            <a:ext cx="2423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778"/>
                </a:solidFill>
                <a:latin typeface="Calibri"/>
              </a:rPr>
              <a:t>Aggregate → one prototype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79408" y="3456432"/>
            <a:ext cx="237744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5A6778"/>
                </a:solidFill>
                <a:latin typeface="Calibri"/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98864" y="3136392"/>
            <a:ext cx="2697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98864" y="3136392"/>
            <a:ext cx="91440" cy="105156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00032" y="3264408"/>
            <a:ext cx="2423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41B2E"/>
                </a:solidFill>
                <a:latin typeface="Calibri"/>
              </a:rPr>
              <a:t>8  STI Memory Hₜ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00032" y="3666744"/>
            <a:ext cx="2423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A6778"/>
                </a:solidFill>
                <a:latin typeface="Calibri"/>
              </a:rPr>
              <a:t>Age-decaying stability prior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580644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3A5F"/>
                </a:solidFill>
                <a:latin typeface="Calibri"/>
              </a:rPr>
              <a:t>Final stage: </a:t>
            </a:r>
            <a:r>
              <a:rPr sz="1300" b="0">
                <a:solidFill>
                  <a:srgbClr val="5A6778"/>
                </a:solidFill>
                <a:latin typeface="Calibri"/>
              </a:rPr>
              <a:t>a cosine classifier scores queries against all prototypes. Queries skip the graph — only prototypes are graph-refined, keeping inference cheap.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D6CDF"/>
                </a:solidFill>
                <a:latin typeface="Calibri"/>
              </a:rPr>
              <a:t>COMPONENT 1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1B2E"/>
                </a:solidFill>
                <a:latin typeface="Calibri"/>
              </a:rPr>
              <a:t>Contrastive Pre-Conditioning (SupCon)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solidFill>
            <a:srgbClr val="EB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STAG-STI · Few-Shot Class-Incremental Learning · Review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5943600" cy="45720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2D6CDF"/>
                </a:solidFill>
                <a:latin typeface="Calibri"/>
              </a:rPr>
              <a:t>●  </a:t>
            </a:r>
            <a:r>
              <a:rPr sz="1450" b="0">
                <a:solidFill>
                  <a:srgbClr val="141B2E"/>
                </a:solidFill>
                <a:latin typeface="Calibri"/>
              </a:rPr>
              <a:t>A </a:t>
            </a:r>
            <a:r>
              <a:rPr sz="1450" b="1">
                <a:solidFill>
                  <a:srgbClr val="141B2E"/>
                </a:solidFill>
                <a:latin typeface="Calibri"/>
              </a:rPr>
              <a:t>supervised contrastive</a:t>
            </a:r>
            <a:r>
              <a:rPr sz="1450" b="0">
                <a:solidFill>
                  <a:srgbClr val="141B2E"/>
                </a:solidFill>
                <a:latin typeface="Calibri"/>
              </a:rPr>
              <a:t> (SupCon) head shapes the feature space during base training.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2D6CDF"/>
                </a:solidFill>
                <a:latin typeface="Calibri"/>
              </a:rPr>
              <a:t>●  </a:t>
            </a:r>
            <a:r>
              <a:rPr sz="1450" b="0">
                <a:solidFill>
                  <a:srgbClr val="141B2E"/>
                </a:solidFill>
                <a:latin typeface="Calibri"/>
              </a:rPr>
              <a:t>Pulls same-class features together, pushes different classes apart on a hypersphere.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2D6CDF"/>
                </a:solidFill>
                <a:latin typeface="Calibri"/>
              </a:rPr>
              <a:t>●  </a:t>
            </a:r>
            <a:r>
              <a:rPr sz="1450" b="1">
                <a:solidFill>
                  <a:srgbClr val="141B2E"/>
                </a:solidFill>
                <a:latin typeface="Calibri"/>
              </a:rPr>
              <a:t>Why it matters for FSCIL:</a:t>
            </a:r>
            <a:r>
              <a:rPr sz="1450" b="0">
                <a:solidFill>
                  <a:srgbClr val="141B2E"/>
                </a:solidFill>
                <a:latin typeface="Calibri"/>
              </a:rPr>
              <a:t> a well-spread, well-clustered space means a 5-shot prototype lands in a meaningful region.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2D6CDF"/>
                </a:solidFill>
                <a:latin typeface="Calibri"/>
              </a:rPr>
              <a:t>●  </a:t>
            </a:r>
            <a:r>
              <a:rPr sz="1450" b="0">
                <a:solidFill>
                  <a:srgbClr val="141B2E"/>
                </a:solidFill>
                <a:latin typeface="Calibri"/>
              </a:rPr>
              <a:t>Operates on the raw 512-d backbone features (in_dim = backbone_out_dim).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2D6CDF"/>
                </a:solidFill>
                <a:latin typeface="Calibri"/>
              </a:rPr>
              <a:t>●  </a:t>
            </a:r>
            <a:r>
              <a:rPr sz="1450" b="0">
                <a:solidFill>
                  <a:srgbClr val="141B2E"/>
                </a:solidFill>
                <a:latin typeface="Calibri"/>
              </a:rPr>
              <a:t>Temperature 0.15, weight λ_supcon = 0.3 — tuned to avoid over-tight clustering that harms novel classes.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1417320"/>
            <a:ext cx="4892040" cy="4023360"/>
          </a:xfrm>
          <a:prstGeom prst="rect">
            <a:avLst/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600200"/>
            <a:ext cx="4572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79E8A"/>
                </a:solidFill>
                <a:latin typeface="Calibri"/>
              </a:rPr>
              <a:t>Intuition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48840"/>
            <a:ext cx="443484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41B2E"/>
                </a:solidFill>
                <a:latin typeface="Calibri"/>
              </a:rPr>
              <a:t>Better-organised base features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79E8A"/>
                </a:solidFill>
                <a:latin typeface="Calibri"/>
              </a:rPr>
              <a:t>↓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41B2E"/>
                </a:solidFill>
                <a:latin typeface="Calibri"/>
              </a:rPr>
              <a:t>Novel prototypes generalise better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79E8A"/>
                </a:solidFill>
                <a:latin typeface="Calibri"/>
              </a:rPr>
              <a:t>↓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79E8A"/>
                </a:solidFill>
                <a:latin typeface="Calibri"/>
              </a:rPr>
              <a:t>Higher novel-class accuracy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D6CDF"/>
                </a:solidFill>
                <a:latin typeface="Calibri"/>
              </a:rPr>
              <a:t>COMPONENT 2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1B2E"/>
                </a:solidFill>
                <a:latin typeface="Calibri"/>
              </a:rPr>
              <a:t>Topology-Aware Graph Attention (GATv2)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solidFill>
            <a:srgbClr val="EB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STAG-STI · Few-Shot Class-Incremental Learning · Review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5943600" cy="45720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2D6CDF"/>
                </a:solidFill>
                <a:latin typeface="Calibri"/>
              </a:rPr>
              <a:t>●  </a:t>
            </a:r>
            <a:r>
              <a:rPr sz="1450" b="0">
                <a:solidFill>
                  <a:srgbClr val="141B2E"/>
                </a:solidFill>
                <a:latin typeface="Calibri"/>
              </a:rPr>
              <a:t>A </a:t>
            </a:r>
            <a:r>
              <a:rPr sz="1450" b="1">
                <a:solidFill>
                  <a:srgbClr val="141B2E"/>
                </a:solidFill>
                <a:latin typeface="Calibri"/>
              </a:rPr>
              <a:t>topology scorer gφ</a:t>
            </a:r>
            <a:r>
              <a:rPr sz="1450" b="0">
                <a:solidFill>
                  <a:srgbClr val="141B2E"/>
                </a:solidFill>
                <a:latin typeface="Calibri"/>
              </a:rPr>
              <a:t> predicts how strongly nodes (views/classes) should be connected.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2D6CDF"/>
                </a:solidFill>
                <a:latin typeface="Calibri"/>
              </a:rPr>
              <a:t>●  </a:t>
            </a:r>
            <a:r>
              <a:rPr sz="1450" b="1">
                <a:solidFill>
                  <a:srgbClr val="141B2E"/>
                </a:solidFill>
                <a:latin typeface="Calibri"/>
              </a:rPr>
              <a:t>GATv2</a:t>
            </a:r>
            <a:r>
              <a:rPr sz="1450" b="0">
                <a:solidFill>
                  <a:srgbClr val="141B2E"/>
                </a:solidFill>
                <a:latin typeface="Calibri"/>
              </a:rPr>
              <a:t> performs attention-weighted message passing over that learned graph.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2D6CDF"/>
                </a:solidFill>
                <a:latin typeface="Calibri"/>
              </a:rPr>
              <a:t>●  </a:t>
            </a:r>
            <a:r>
              <a:rPr sz="1450" b="0">
                <a:solidFill>
                  <a:srgbClr val="141B2E"/>
                </a:solidFill>
                <a:latin typeface="Calibri"/>
              </a:rPr>
              <a:t>Multiple fantasy views of the same class exchange information → a </a:t>
            </a:r>
            <a:r>
              <a:rPr sz="1450" b="1">
                <a:solidFill>
                  <a:srgbClr val="141B2E"/>
                </a:solidFill>
                <a:latin typeface="Calibri"/>
              </a:rPr>
              <a:t>denoised, consensus prototype</a:t>
            </a:r>
            <a:r>
              <a:rPr sz="1450" b="0">
                <a:solidFill>
                  <a:srgbClr val="141B2E"/>
                </a:solidFill>
                <a:latin typeface="Calibri"/>
              </a:rPr>
              <a:t>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2D6CDF"/>
                </a:solidFill>
                <a:latin typeface="Calibri"/>
              </a:rPr>
              <a:t>●  </a:t>
            </a:r>
            <a:r>
              <a:rPr sz="1450" b="0">
                <a:solidFill>
                  <a:srgbClr val="141B2E"/>
                </a:solidFill>
                <a:latin typeface="Calibri"/>
              </a:rPr>
              <a:t>Supervised by a graph BCE loss (λ_graph = 0.25) so the learned adjacency is meaningful, not arbitrary.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2D6CDF"/>
                </a:solidFill>
                <a:latin typeface="Calibri"/>
              </a:rPr>
              <a:t>●  </a:t>
            </a:r>
            <a:r>
              <a:rPr sz="1450" b="0">
                <a:solidFill>
                  <a:srgbClr val="141B2E"/>
                </a:solidFill>
                <a:latin typeface="Calibri"/>
              </a:rPr>
              <a:t>Dropout inside the GAT fights Phase-B overfitting on the small episodic batches.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1417320"/>
            <a:ext cx="4892040" cy="4023360"/>
          </a:xfrm>
          <a:prstGeom prst="rect">
            <a:avLst/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600200"/>
            <a:ext cx="4572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D6CDF"/>
                </a:solidFill>
                <a:latin typeface="Calibri"/>
              </a:rPr>
              <a:t>What the graph gives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48840"/>
            <a:ext cx="4434840" cy="31089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2D6CDF"/>
                </a:solidFill>
                <a:latin typeface="Calibri"/>
              </a:rPr>
              <a:t>▸  </a:t>
            </a:r>
            <a:r>
              <a:rPr sz="1350" b="1">
                <a:solidFill>
                  <a:srgbClr val="141B2E"/>
                </a:solidFill>
                <a:latin typeface="Calibri"/>
              </a:rPr>
              <a:t>Noise averaging</a:t>
            </a:r>
            <a:r>
              <a:rPr sz="1350" b="0">
                <a:solidFill>
                  <a:srgbClr val="141B2E"/>
                </a:solidFill>
                <a:latin typeface="Calibri"/>
              </a:rPr>
              <a:t> across views of one class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2D6CDF"/>
                </a:solidFill>
                <a:latin typeface="Calibri"/>
              </a:rPr>
              <a:t>▸  </a:t>
            </a:r>
            <a:r>
              <a:rPr sz="1350" b="1">
                <a:solidFill>
                  <a:srgbClr val="141B2E"/>
                </a:solidFill>
                <a:latin typeface="Calibri"/>
              </a:rPr>
              <a:t>Structure awareness</a:t>
            </a:r>
            <a:r>
              <a:rPr sz="1350" b="0">
                <a:solidFill>
                  <a:srgbClr val="141B2E"/>
                </a:solidFill>
                <a:latin typeface="Calibri"/>
              </a:rPr>
              <a:t> — related classes inform each other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2D6CDF"/>
                </a:solidFill>
                <a:latin typeface="Calibri"/>
              </a:rPr>
              <a:t>▸  </a:t>
            </a:r>
            <a:r>
              <a:rPr sz="1350" b="1">
                <a:solidFill>
                  <a:srgbClr val="141B2E"/>
                </a:solidFill>
                <a:latin typeface="Calibri"/>
              </a:rPr>
              <a:t>Query-independent</a:t>
            </a:r>
            <a:r>
              <a:rPr sz="1350" b="0">
                <a:solidFill>
                  <a:srgbClr val="141B2E"/>
                </a:solidFill>
                <a:latin typeface="Calibri"/>
              </a:rPr>
              <a:t> — only prototypes pass through the graph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2D6CDF"/>
                </a:solidFill>
                <a:latin typeface="Calibri"/>
              </a:rPr>
              <a:t>▸  </a:t>
            </a:r>
            <a:r>
              <a:rPr sz="1350" b="0">
                <a:solidFill>
                  <a:srgbClr val="141B2E"/>
                </a:solidFill>
                <a:latin typeface="Calibri"/>
              </a:rPr>
              <a:t>Isolated in the ablation study (see Slide 15)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D6CDF"/>
                </a:solidFill>
                <a:latin typeface="Calibri"/>
              </a:rPr>
              <a:t>COMPONENT 3 OF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1B2E"/>
                </a:solidFill>
                <a:latin typeface="Calibri"/>
              </a:rPr>
              <a:t>Spatio-Temporal Memory (Age-Decaying Prior)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solidFill>
            <a:srgbClr val="EB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STAG-STI · Few-Shot Class-Incremental Learning · Review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5943600" cy="45720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2D6CDF"/>
                </a:solidFill>
                <a:latin typeface="Calibri"/>
              </a:rPr>
              <a:t>●  </a:t>
            </a:r>
            <a:r>
              <a:rPr sz="1450" b="0">
                <a:solidFill>
                  <a:srgbClr val="141B2E"/>
                </a:solidFill>
                <a:latin typeface="Calibri"/>
              </a:rPr>
              <a:t>The </a:t>
            </a:r>
            <a:r>
              <a:rPr sz="1450" b="1">
                <a:solidFill>
                  <a:srgbClr val="141B2E"/>
                </a:solidFill>
                <a:latin typeface="Calibri"/>
              </a:rPr>
              <a:t>STI memory Hₜ</a:t>
            </a:r>
            <a:r>
              <a:rPr sz="1450" b="0">
                <a:solidFill>
                  <a:srgbClr val="141B2E"/>
                </a:solidFill>
                <a:latin typeface="Calibri"/>
              </a:rPr>
              <a:t> stores every class prototype and controls how much each can still change.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2D6CDF"/>
                </a:solidFill>
                <a:latin typeface="Calibri"/>
              </a:rPr>
              <a:t>●  </a:t>
            </a:r>
            <a:r>
              <a:rPr sz="1450" b="0">
                <a:solidFill>
                  <a:srgbClr val="141B2E"/>
                </a:solidFill>
                <a:latin typeface="Calibri"/>
              </a:rPr>
              <a:t>An </a:t>
            </a:r>
            <a:r>
              <a:rPr sz="1450" b="1">
                <a:solidFill>
                  <a:srgbClr val="141B2E"/>
                </a:solidFill>
                <a:latin typeface="Calibri"/>
              </a:rPr>
              <a:t>age-based stability prior</a:t>
            </a:r>
            <a:r>
              <a:rPr sz="1450" b="0">
                <a:solidFill>
                  <a:srgbClr val="141B2E"/>
                </a:solidFill>
                <a:latin typeface="Calibri"/>
              </a:rPr>
              <a:t>: older classes harden (β → 1), new classes stay plastic (β ≈ 0).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2D6CDF"/>
                </a:solidFill>
                <a:latin typeface="Calibri"/>
              </a:rPr>
              <a:t>●  </a:t>
            </a:r>
            <a:r>
              <a:rPr sz="1450" b="0">
                <a:solidFill>
                  <a:srgbClr val="141B2E"/>
                </a:solidFill>
                <a:latin typeface="Calibri"/>
              </a:rPr>
              <a:t>Controlled by a gate Γ and reset gate R_gate; hardening speed κ = 2.0, offset κ₀ = 3.0.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2D6CDF"/>
                </a:solidFill>
                <a:latin typeface="Calibri"/>
              </a:rPr>
              <a:t>●  </a:t>
            </a:r>
            <a:r>
              <a:rPr sz="1450" b="1">
                <a:solidFill>
                  <a:srgbClr val="141B2E"/>
                </a:solidFill>
                <a:latin typeface="Calibri"/>
              </a:rPr>
              <a:t>Directly targets the stability–plasticity trade-off:</a:t>
            </a:r>
            <a:r>
              <a:rPr sz="1450" b="0">
                <a:solidFill>
                  <a:srgbClr val="141B2E"/>
                </a:solidFill>
                <a:latin typeface="Calibri"/>
              </a:rPr>
              <a:t> protect the old, adapt the new.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2D6CDF"/>
                </a:solidFill>
                <a:latin typeface="Calibri"/>
              </a:rPr>
              <a:t>●  </a:t>
            </a:r>
            <a:r>
              <a:rPr sz="1450" b="0">
                <a:solidFill>
                  <a:srgbClr val="141B2E"/>
                </a:solidFill>
                <a:latin typeface="Calibri"/>
              </a:rPr>
              <a:t>Enables incremental additions with </a:t>
            </a:r>
            <a:r>
              <a:rPr sz="1450" b="1">
                <a:solidFill>
                  <a:srgbClr val="141B2E"/>
                </a:solidFill>
                <a:latin typeface="Calibri"/>
              </a:rPr>
              <a:t>no replay and no backbone updates</a:t>
            </a:r>
            <a:r>
              <a:rPr sz="1450" b="0">
                <a:solidFill>
                  <a:srgbClr val="141B2E"/>
                </a:solidFill>
                <a:latin typeface="Calibr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1417320"/>
            <a:ext cx="4892040" cy="4023360"/>
          </a:xfrm>
          <a:prstGeom prst="rect">
            <a:avLst/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600200"/>
            <a:ext cx="4572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E08A1E"/>
                </a:solidFill>
                <a:latin typeface="Calibri"/>
              </a:rPr>
              <a:t>Age → stability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94560"/>
            <a:ext cx="4434840" cy="2926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41B2E"/>
                </a:solidFill>
                <a:latin typeface="Calibri"/>
              </a:rPr>
              <a:t>New class</a:t>
            </a:r>
            <a:r>
              <a:rPr sz="1400" b="0">
                <a:solidFill>
                  <a:srgbClr val="179E8A"/>
                </a:solidFill>
                <a:latin typeface="Calibri"/>
              </a:rPr>
              <a:t>   β ≈ 0  (plastic)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5A6778"/>
                </a:solidFill>
                <a:latin typeface="Calibri"/>
              </a:rPr>
              <a:t>     ↓  time / sessions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41B2E"/>
                </a:solidFill>
                <a:latin typeface="Calibri"/>
              </a:rPr>
              <a:t>Aged class</a:t>
            </a:r>
            <a:r>
              <a:rPr sz="1400" b="0">
                <a:solidFill>
                  <a:srgbClr val="C0392B"/>
                </a:solidFill>
                <a:latin typeface="Calibri"/>
              </a:rPr>
              <a:t>   β → 1  (frozen)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600" b="0">
                <a:solidFill>
                  <a:srgbClr val="141B2E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Result: recent classes adapt,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established classes are protected.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D6CDF"/>
                </a:solidFill>
                <a:latin typeface="Calibri"/>
              </a:rPr>
              <a:t>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1B2E"/>
                </a:solidFill>
                <a:latin typeface="Calibri"/>
              </a:rPr>
              <a:t>Datasets &amp; Evaluation Protocol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solidFill>
            <a:srgbClr val="EB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STAG-STI · Few-Shot Class-Incremental Learning · Review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2286000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22860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1371600"/>
            <a:ext cx="1737360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1371600"/>
            <a:ext cx="173736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Resolution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1371600"/>
            <a:ext cx="1828800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371600"/>
            <a:ext cx="18288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Base / Novel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371600"/>
            <a:ext cx="2743200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371600"/>
            <a:ext cx="27432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Sessions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371600"/>
            <a:ext cx="2743200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371600"/>
            <a:ext cx="274320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Backbone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1773936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1773936"/>
            <a:ext cx="223113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CIFAR-100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88920" y="1773936"/>
            <a:ext cx="1737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16352" y="1773936"/>
            <a:ext cx="16824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32×32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1773936"/>
            <a:ext cx="1828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1773936"/>
            <a:ext cx="177393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60 / 40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1773936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1773936"/>
            <a:ext cx="268833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8 × (5-way 5-shot)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98280" y="1773936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25712" y="1773936"/>
            <a:ext cx="268833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ResNet-18 (CIFAR stem)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249424"/>
            <a:ext cx="2286000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2249424"/>
            <a:ext cx="223113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miniImageNet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2249424"/>
            <a:ext cx="1737360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16352" y="2249424"/>
            <a:ext cx="16824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84×84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26280" y="2249424"/>
            <a:ext cx="1828800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53712" y="2249424"/>
            <a:ext cx="177393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60 / 40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249424"/>
            <a:ext cx="2743200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2249424"/>
            <a:ext cx="268833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8 × (5-way 5-shot)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98280" y="2249424"/>
            <a:ext cx="2743200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25712" y="2249424"/>
            <a:ext cx="268833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ResNet-18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2724912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" y="2724912"/>
            <a:ext cx="223113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CUB-200-2011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88920" y="2724912"/>
            <a:ext cx="1737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16352" y="2724912"/>
            <a:ext cx="16824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224×224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26280" y="2724912"/>
            <a:ext cx="1828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53712" y="2724912"/>
            <a:ext cx="177393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100 / 100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55080" y="2724912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82512" y="2724912"/>
            <a:ext cx="268833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10 × (10-way 5-shot)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98280" y="2724912"/>
            <a:ext cx="2743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25712" y="2724912"/>
            <a:ext cx="268833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ResNet-18 (ImageNet-pretrained)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3200400"/>
            <a:ext cx="2286000" cy="475488"/>
          </a:xfrm>
          <a:prstGeom prst="rect">
            <a:avLst/>
          </a:prstGeom>
          <a:solidFill>
            <a:srgbClr val="EBEFF6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3200400"/>
            <a:ext cx="223113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41B2E"/>
                </a:solidFill>
                <a:latin typeface="Calibri"/>
              </a:rPr>
              <a:t>Cross-domain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88920" y="3200400"/>
            <a:ext cx="1737360" cy="475488"/>
          </a:xfrm>
          <a:prstGeom prst="rect">
            <a:avLst/>
          </a:prstGeom>
          <a:solidFill>
            <a:srgbClr val="EBEFF6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16352" y="3200400"/>
            <a:ext cx="16824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41B2E"/>
                </a:solidFill>
                <a:latin typeface="Calibri"/>
              </a:rPr>
              <a:t>84×84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3200400"/>
            <a:ext cx="1828800" cy="475488"/>
          </a:xfrm>
          <a:prstGeom prst="rect">
            <a:avLst/>
          </a:prstGeom>
          <a:solidFill>
            <a:srgbClr val="EBEFF6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53712" y="3200400"/>
            <a:ext cx="177393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41B2E"/>
                </a:solidFill>
                <a:latin typeface="Calibri"/>
              </a:rPr>
              <a:t>mini → CUB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55080" y="3200400"/>
            <a:ext cx="2743200" cy="475488"/>
          </a:xfrm>
          <a:prstGeom prst="rect">
            <a:avLst/>
          </a:prstGeom>
          <a:solidFill>
            <a:srgbClr val="EBEFF6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82512" y="3200400"/>
            <a:ext cx="268833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41B2E"/>
                </a:solidFill>
                <a:latin typeface="Calibri"/>
              </a:rPr>
              <a:t>10 × (10-way 5-shot)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98280" y="3200400"/>
            <a:ext cx="2743200" cy="475488"/>
          </a:xfrm>
          <a:prstGeom prst="rect">
            <a:avLst/>
          </a:prstGeom>
          <a:solidFill>
            <a:srgbClr val="EBEFF6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25712" y="3200400"/>
            <a:ext cx="268833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41B2E"/>
                </a:solidFill>
                <a:latin typeface="Calibri"/>
              </a:rPr>
              <a:t>miniImageNet backbone (frozen)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4160520"/>
            <a:ext cx="10972800" cy="20116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79E8A"/>
                </a:solidFill>
                <a:latin typeface="Calibri"/>
              </a:rPr>
              <a:t>●  </a:t>
            </a:r>
            <a:r>
              <a:rPr sz="1350" b="1">
                <a:solidFill>
                  <a:srgbClr val="141B2E"/>
                </a:solidFill>
                <a:latin typeface="Calibri"/>
              </a:rPr>
              <a:t>Official CEC / FACT splits</a:t>
            </a:r>
            <a:r>
              <a:rPr sz="1350" b="0">
                <a:solidFill>
                  <a:srgbClr val="141B2E"/>
                </a:solidFill>
                <a:latin typeface="Calibri"/>
              </a:rPr>
              <a:t> used throughout — vendored under fscil/splits/ for exact reproducibility.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79E8A"/>
                </a:solidFill>
                <a:latin typeface="Calibri"/>
              </a:rPr>
              <a:t>●  </a:t>
            </a:r>
            <a:r>
              <a:rPr sz="1350" b="0">
                <a:solidFill>
                  <a:srgbClr val="141B2E"/>
                </a:solidFill>
                <a:latin typeface="Calibri"/>
              </a:rPr>
              <a:t>Incremental support uses the </a:t>
            </a:r>
            <a:r>
              <a:rPr sz="1350" b="1">
                <a:solidFill>
                  <a:srgbClr val="141B2E"/>
                </a:solidFill>
                <a:latin typeface="Calibri"/>
              </a:rPr>
              <a:t>exact official few-shot samples</a:t>
            </a:r>
            <a:r>
              <a:rPr sz="1350" b="0">
                <a:solidFill>
                  <a:srgbClr val="141B2E"/>
                </a:solidFill>
                <a:latin typeface="Calibri"/>
              </a:rPr>
              <a:t>, not random draws.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>
                <a:solidFill>
                  <a:srgbClr val="179E8A"/>
                </a:solidFill>
                <a:latin typeface="Calibri"/>
              </a:rPr>
              <a:t>●  </a:t>
            </a:r>
            <a:r>
              <a:rPr sz="1350" b="0">
                <a:solidFill>
                  <a:srgbClr val="141B2E"/>
                </a:solidFill>
                <a:latin typeface="Calibri"/>
              </a:rPr>
              <a:t>Cross-domain is this project's own protocol: base representation from miniImageNet, novel classes from CUB.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D6CDF"/>
                </a:solidFill>
                <a:latin typeface="Calibri"/>
              </a:rPr>
              <a:t>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1B2E"/>
                </a:solidFill>
                <a:latin typeface="Calibri"/>
              </a:rPr>
              <a:t>Evaluation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solidFill>
            <a:srgbClr val="EB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STAG-STI · Few-Shot Class-Incremental Learning · Review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1732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3611880" cy="73152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00200"/>
            <a:ext cx="324612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2D6CDF"/>
                </a:solidFill>
                <a:latin typeface="Calibri"/>
              </a:rPr>
              <a:t>Aᵢ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30552"/>
            <a:ext cx="32461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Accuracy after session i over all classes seen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0832" y="141732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1417320"/>
            <a:ext cx="3611880" cy="7315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1600200"/>
            <a:ext cx="324612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E3A5F"/>
                </a:solidFill>
                <a:latin typeface="Calibri"/>
              </a:rPr>
              <a:t>A₀ / A_T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130552"/>
            <a:ext cx="32461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Base (first) and final-session accuracy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38744" y="141732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38744" y="1417320"/>
            <a:ext cx="3611880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1624" y="1600200"/>
            <a:ext cx="324612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C0392B"/>
                </a:solidFill>
                <a:latin typeface="Calibri"/>
              </a:rPr>
              <a:t>PD 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21624" y="2130552"/>
            <a:ext cx="32461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Performance Drop = A₀ − A_T (forgetting)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10896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108960"/>
            <a:ext cx="3611880" cy="73152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291840"/>
            <a:ext cx="324612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08A1E"/>
                </a:solidFill>
                <a:latin typeface="Calibri"/>
              </a:rPr>
              <a:t>A_B / A_N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822192"/>
            <a:ext cx="32461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Base-only / novel-only accuracy at the 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0832" y="310896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70832" y="3108960"/>
            <a:ext cx="3611880" cy="73152"/>
          </a:xfrm>
          <a:prstGeom prst="rect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3291840"/>
            <a:ext cx="324612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79E8A"/>
                </a:solidFill>
                <a:latin typeface="Calibri"/>
              </a:rPr>
              <a:t>HM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3822192"/>
            <a:ext cx="32461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Harmonic mean of A_B and A_N (balance)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38744" y="310896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38744" y="3108960"/>
            <a:ext cx="3611880" cy="73152"/>
          </a:xfrm>
          <a:prstGeom prst="rect">
            <a:avLst/>
          </a:prstGeom>
          <a:solidFill>
            <a:srgbClr val="5A67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21624" y="3291840"/>
            <a:ext cx="324612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5A6778"/>
                </a:solidFill>
                <a:latin typeface="Calibri"/>
              </a:rPr>
              <a:t>Avg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1624" y="3822192"/>
            <a:ext cx="32461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Mean accuracy across all sessions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21208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79E8A"/>
                </a:solidFill>
                <a:latin typeface="Calibri"/>
              </a:rPr>
              <a:t>Why HM matters most: </a:t>
            </a:r>
            <a:r>
              <a:rPr sz="1400" b="0">
                <a:solidFill>
                  <a:srgbClr val="141B2E"/>
                </a:solidFill>
                <a:latin typeface="Calibri"/>
              </a:rPr>
              <a:t>a model can inflate overall accuracy by acquiescing to base classes. HM only rises when BOTH base and novel accuracy are healthy — it is the honest FSCIL score.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D6CDF"/>
                </a:solidFill>
                <a:latin typeface="Calibri"/>
              </a:rPr>
              <a:t>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1B2E"/>
                </a:solidFill>
                <a:latin typeface="Calibri"/>
              </a:rPr>
              <a:t>Implementation &amp; Training Recipe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solidFill>
            <a:srgbClr val="EB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STAG-STI · Few-Shot Class-Incremental Learning · Review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5943600" cy="45720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D6CDF"/>
                </a:solidFill>
                <a:latin typeface="Calibri"/>
              </a:rPr>
              <a:t>●  </a:t>
            </a:r>
            <a:r>
              <a:rPr sz="1350" b="1">
                <a:solidFill>
                  <a:srgbClr val="141B2E"/>
                </a:solidFill>
                <a:latin typeface="Calibri"/>
              </a:rPr>
              <a:t>Framework:</a:t>
            </a:r>
            <a:r>
              <a:rPr sz="1350" b="0">
                <a:solidFill>
                  <a:srgbClr val="141B2E"/>
                </a:solidFill>
                <a:latin typeface="Calibri"/>
              </a:rPr>
              <a:t> PyTorch, Apple-Silicon (MPS) backend.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D6CDF"/>
                </a:solidFill>
                <a:latin typeface="Calibri"/>
              </a:rPr>
              <a:t>●  </a:t>
            </a:r>
            <a:r>
              <a:rPr sz="1350" b="1">
                <a:solidFill>
                  <a:srgbClr val="141B2E"/>
                </a:solidFill>
                <a:latin typeface="Calibri"/>
              </a:rPr>
              <a:t>Phase A — backbone:</a:t>
            </a:r>
            <a:r>
              <a:rPr sz="1350" b="0">
                <a:solidFill>
                  <a:srgbClr val="141B2E"/>
                </a:solidFill>
                <a:latin typeface="Calibri"/>
              </a:rPr>
              <a:t> cross-entropy pretraining, 30 epochs, cosine LR, label smoothing 0.1, Mixup/CutMix, random erasing, early stopping.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D6CDF"/>
                </a:solidFill>
                <a:latin typeface="Calibri"/>
              </a:rPr>
              <a:t>●  </a:t>
            </a:r>
            <a:r>
              <a:rPr sz="1350" b="1">
                <a:solidFill>
                  <a:srgbClr val="141B2E"/>
                </a:solidFill>
                <a:latin typeface="Calibri"/>
              </a:rPr>
              <a:t>Phase B — STAG-STI:</a:t>
            </a:r>
            <a:r>
              <a:rPr sz="1350" b="0">
                <a:solidFill>
                  <a:srgbClr val="141B2E"/>
                </a:solidFill>
                <a:latin typeface="Calibri"/>
              </a:rPr>
              <a:t> 50 episodic epochs, 100 episodes/epoch, 15-way 5-shot 5-query episodes, composite loss (cls + SupCon + graph + stability).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D6CDF"/>
                </a:solidFill>
                <a:latin typeface="Calibri"/>
              </a:rPr>
              <a:t>●  </a:t>
            </a:r>
            <a:r>
              <a:rPr sz="1350" b="1">
                <a:solidFill>
                  <a:srgbClr val="141B2E"/>
                </a:solidFill>
                <a:latin typeface="Calibri"/>
              </a:rPr>
              <a:t>Phase C — incremental eval:</a:t>
            </a:r>
            <a:r>
              <a:rPr sz="1350" b="0">
                <a:solidFill>
                  <a:srgbClr val="141B2E"/>
                </a:solidFill>
                <a:latin typeface="Calibri"/>
              </a:rPr>
              <a:t> freeze everything; add prototypes session by session.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D6CDF"/>
                </a:solidFill>
                <a:latin typeface="Calibri"/>
              </a:rPr>
              <a:t>●  </a:t>
            </a:r>
            <a:r>
              <a:rPr sz="1350" b="1">
                <a:solidFill>
                  <a:srgbClr val="141B2E"/>
                </a:solidFill>
                <a:latin typeface="Calibri"/>
              </a:rPr>
              <a:t>Reproducibility:</a:t>
            </a:r>
            <a:r>
              <a:rPr sz="1350" b="0">
                <a:solidFill>
                  <a:srgbClr val="141B2E"/>
                </a:solidFill>
                <a:latin typeface="Calibri"/>
              </a:rPr>
              <a:t> fixed seed 42, deterministic fantasy views, namespaced checkpoints.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1417320"/>
            <a:ext cx="4892040" cy="4114800"/>
          </a:xfrm>
          <a:prstGeom prst="rect">
            <a:avLst/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600200"/>
            <a:ext cx="4572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3A5F"/>
                </a:solidFill>
                <a:latin typeface="Calibri"/>
              </a:rPr>
              <a:t>Composite Phase-B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94560"/>
            <a:ext cx="4480560" cy="32004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1E3A5F"/>
                </a:solidFill>
                <a:latin typeface="Calibri"/>
              </a:rPr>
              <a:t>▸  </a:t>
            </a:r>
            <a:r>
              <a:rPr sz="1350" b="1">
                <a:solidFill>
                  <a:srgbClr val="141B2E"/>
                </a:solidFill>
                <a:latin typeface="Calibri"/>
              </a:rPr>
              <a:t>L_cls</a:t>
            </a:r>
            <a:r>
              <a:rPr sz="1350" b="0">
                <a:solidFill>
                  <a:srgbClr val="141B2E"/>
                </a:solidFill>
                <a:latin typeface="Calibri"/>
              </a:rPr>
              <a:t> — query classification (λ = 1.0)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1E3A5F"/>
                </a:solidFill>
                <a:latin typeface="Calibri"/>
              </a:rPr>
              <a:t>▸  </a:t>
            </a:r>
            <a:r>
              <a:rPr sz="1350" b="1">
                <a:solidFill>
                  <a:srgbClr val="141B2E"/>
                </a:solidFill>
                <a:latin typeface="Calibri"/>
              </a:rPr>
              <a:t>L_supcon</a:t>
            </a:r>
            <a:r>
              <a:rPr sz="1350" b="0">
                <a:solidFill>
                  <a:srgbClr val="141B2E"/>
                </a:solidFill>
                <a:latin typeface="Calibri"/>
              </a:rPr>
              <a:t> — contrastive (λ = 0.3)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1E3A5F"/>
                </a:solidFill>
                <a:latin typeface="Calibri"/>
              </a:rPr>
              <a:t>▸  </a:t>
            </a:r>
            <a:r>
              <a:rPr sz="1350" b="1">
                <a:solidFill>
                  <a:srgbClr val="141B2E"/>
                </a:solidFill>
                <a:latin typeface="Calibri"/>
              </a:rPr>
              <a:t>L_graph</a:t>
            </a:r>
            <a:r>
              <a:rPr sz="1350" b="0">
                <a:solidFill>
                  <a:srgbClr val="141B2E"/>
                </a:solidFill>
                <a:latin typeface="Calibri"/>
              </a:rPr>
              <a:t> — topology BCE (λ = 0.25)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1E3A5F"/>
                </a:solidFill>
                <a:latin typeface="Calibri"/>
              </a:rPr>
              <a:t>▸  </a:t>
            </a:r>
            <a:r>
              <a:rPr sz="1350" b="1">
                <a:solidFill>
                  <a:srgbClr val="141B2E"/>
                </a:solidFill>
                <a:latin typeface="Calibri"/>
              </a:rPr>
              <a:t>L_stab</a:t>
            </a:r>
            <a:r>
              <a:rPr sz="1350" b="0">
                <a:solidFill>
                  <a:srgbClr val="141B2E"/>
                </a:solidFill>
                <a:latin typeface="Calibri"/>
              </a:rPr>
              <a:t> — memory + gate reg. (λ = 0.1)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4709160"/>
            <a:ext cx="448056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A6778"/>
                </a:solidFill>
                <a:latin typeface="Calibri"/>
              </a:rPr>
              <a:t>Weights tuned on a held-out val split to balance clustering vs novel-class flexibility.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D6CDF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1B2E"/>
                </a:solidFill>
                <a:latin typeface="Calibri"/>
              </a:rPr>
              <a:t>In-Domain Performance (Official Splits)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solidFill>
            <a:srgbClr val="EB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STAG-STI · Few-Shot Class-Incremental Learning · Review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1737360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71600"/>
            <a:ext cx="173736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1371600"/>
            <a:ext cx="658368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1371600"/>
            <a:ext cx="65836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98648" y="1371600"/>
            <a:ext cx="658368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98648" y="1371600"/>
            <a:ext cx="65836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A_T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57016" y="1371600"/>
            <a:ext cx="658368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57016" y="1371600"/>
            <a:ext cx="65836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PD↓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15384" y="1371600"/>
            <a:ext cx="658368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15384" y="1371600"/>
            <a:ext cx="65836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Avg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73752" y="1371600"/>
            <a:ext cx="658368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73752" y="1371600"/>
            <a:ext cx="65836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A_B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32120" y="1371600"/>
            <a:ext cx="658368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0" y="1371600"/>
            <a:ext cx="65836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A_N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0488" y="1371600"/>
            <a:ext cx="658368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0488" y="1371600"/>
            <a:ext cx="65836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HM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1773936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1773936"/>
            <a:ext cx="168249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41B2E"/>
                </a:solidFill>
                <a:latin typeface="Calibri"/>
              </a:rPr>
              <a:t>CIFAR-100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40280" y="1773936"/>
            <a:ext cx="65836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67712" y="1773936"/>
            <a:ext cx="60350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78.2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98648" y="1773936"/>
            <a:ext cx="65836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6080" y="1773936"/>
            <a:ext cx="60350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49.5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57016" y="1773936"/>
            <a:ext cx="65836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84448" y="1773936"/>
            <a:ext cx="60350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28.7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15384" y="1773936"/>
            <a:ext cx="65836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2816" y="1773936"/>
            <a:ext cx="60350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62.1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73752" y="1773936"/>
            <a:ext cx="65836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01184" y="1773936"/>
            <a:ext cx="60350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68.7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32120" y="1773936"/>
            <a:ext cx="65836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59552" y="1773936"/>
            <a:ext cx="60350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20.8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0488" y="1773936"/>
            <a:ext cx="65836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1773936"/>
            <a:ext cx="60350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31.9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2231136"/>
            <a:ext cx="1737360" cy="457200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0352" y="2231136"/>
            <a:ext cx="168249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41B2E"/>
                </a:solidFill>
                <a:latin typeface="Calibri"/>
              </a:rPr>
              <a:t>miniImageNet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40280" y="2231136"/>
            <a:ext cx="658368" cy="457200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67712" y="2231136"/>
            <a:ext cx="60350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66.1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98648" y="2231136"/>
            <a:ext cx="658368" cy="457200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26080" y="2231136"/>
            <a:ext cx="60350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40.2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57016" y="2231136"/>
            <a:ext cx="658368" cy="457200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84448" y="2231136"/>
            <a:ext cx="60350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25.9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15384" y="2231136"/>
            <a:ext cx="658368" cy="457200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42816" y="2231136"/>
            <a:ext cx="60350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51.2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73752" y="2231136"/>
            <a:ext cx="658368" cy="457200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01184" y="2231136"/>
            <a:ext cx="60350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56.1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32120" y="2231136"/>
            <a:ext cx="658368" cy="457200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59552" y="2231136"/>
            <a:ext cx="60350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16.4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90488" y="2231136"/>
            <a:ext cx="658368" cy="457200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17920" y="2231136"/>
            <a:ext cx="60350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25.4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2688336"/>
            <a:ext cx="1737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0352" y="2688336"/>
            <a:ext cx="168249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41B2E"/>
                </a:solidFill>
                <a:latin typeface="Calibri"/>
              </a:rPr>
              <a:t>CUB-200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40280" y="2688336"/>
            <a:ext cx="65836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67712" y="2688336"/>
            <a:ext cx="60350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77.8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98648" y="2688336"/>
            <a:ext cx="65836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26080" y="2688336"/>
            <a:ext cx="60350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49.7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557016" y="2688336"/>
            <a:ext cx="65836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584448" y="2688336"/>
            <a:ext cx="60350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28.1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15384" y="2688336"/>
            <a:ext cx="65836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42816" y="2688336"/>
            <a:ext cx="60350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60.9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73752" y="2688336"/>
            <a:ext cx="65836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01184" y="2688336"/>
            <a:ext cx="60350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69.0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532120" y="2688336"/>
            <a:ext cx="65836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59552" y="2688336"/>
            <a:ext cx="60350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30.9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90488" y="2688336"/>
            <a:ext cx="65836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17920" y="2688336"/>
            <a:ext cx="603504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42.6</a:t>
            </a:r>
          </a:p>
        </p:txBody>
      </p:sp>
      <p:pic>
        <p:nvPicPr>
          <p:cNvPr id="74" name="Picture 73" descr="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46120"/>
            <a:ext cx="6309360" cy="3449117"/>
          </a:xfrm>
          <a:prstGeom prst="rect">
            <a:avLst/>
          </a:prstGeom>
        </p:spPr>
      </p:pic>
      <p:sp>
        <p:nvSpPr>
          <p:cNvPr id="75" name="Rectangle 74"/>
          <p:cNvSpPr/>
          <p:nvPr/>
        </p:nvSpPr>
        <p:spPr>
          <a:xfrm>
            <a:off x="7086600" y="1371600"/>
            <a:ext cx="4572000" cy="4572000"/>
          </a:xfrm>
          <a:prstGeom prst="rect">
            <a:avLst/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269480" y="1554480"/>
            <a:ext cx="42062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3A5F"/>
                </a:solidFill>
                <a:latin typeface="Calibri"/>
              </a:rPr>
              <a:t>Reading the results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69480" y="2103120"/>
            <a:ext cx="420624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▸  </a:t>
            </a:r>
            <a:r>
              <a:rPr sz="1300" b="0">
                <a:solidFill>
                  <a:srgbClr val="141B2E"/>
                </a:solidFill>
                <a:latin typeface="Calibri"/>
              </a:rPr>
              <a:t>Base accuracy is </a:t>
            </a:r>
            <a:r>
              <a:rPr sz="1300" b="1">
                <a:solidFill>
                  <a:srgbClr val="141B2E"/>
                </a:solidFill>
                <a:latin typeface="Calibri"/>
              </a:rPr>
              <a:t>strong</a:t>
            </a:r>
            <a:r>
              <a:rPr sz="1300" b="0">
                <a:solidFill>
                  <a:srgbClr val="141B2E"/>
                </a:solidFill>
                <a:latin typeface="Calibri"/>
              </a:rPr>
              <a:t> (66–78%).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▸  </a:t>
            </a:r>
            <a:r>
              <a:rPr sz="1300" b="0">
                <a:solidFill>
                  <a:srgbClr val="141B2E"/>
                </a:solidFill>
                <a:latin typeface="Calibri"/>
              </a:rPr>
              <a:t>Decline is </a:t>
            </a:r>
            <a:r>
              <a:rPr sz="1300" b="1">
                <a:solidFill>
                  <a:srgbClr val="141B2E"/>
                </a:solidFill>
                <a:latin typeface="Calibri"/>
              </a:rPr>
              <a:t>graceful</a:t>
            </a:r>
            <a:r>
              <a:rPr sz="1300" b="0">
                <a:solidFill>
                  <a:srgbClr val="141B2E"/>
                </a:solidFill>
                <a:latin typeface="Calibri"/>
              </a:rPr>
              <a:t>, not a cliff — the memory prior is working.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▸  </a:t>
            </a:r>
            <a:r>
              <a:rPr sz="1300" b="0">
                <a:solidFill>
                  <a:srgbClr val="141B2E"/>
                </a:solidFill>
                <a:latin typeface="Calibri"/>
              </a:rPr>
              <a:t>CUB holds up best (HM </a:t>
            </a:r>
            <a:r>
              <a:rPr sz="1300" b="1">
                <a:solidFill>
                  <a:srgbClr val="141B2E"/>
                </a:solidFill>
                <a:latin typeface="Calibri"/>
              </a:rPr>
              <a:t>42.6</a:t>
            </a:r>
            <a:r>
              <a:rPr sz="1300" b="0">
                <a:solidFill>
                  <a:srgbClr val="141B2E"/>
                </a:solidFill>
                <a:latin typeface="Calibri"/>
              </a:rPr>
              <a:t>) thanks to its ImageNet-pretrained backbone.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▸  </a:t>
            </a:r>
            <a:r>
              <a:rPr sz="1300" b="0">
                <a:solidFill>
                  <a:srgbClr val="141B2E"/>
                </a:solidFill>
                <a:latin typeface="Calibri"/>
              </a:rPr>
              <a:t>miniImageNet is hardest (HM 25.4) — weakest backbone, hardest novel transfer.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2D6CDF"/>
                </a:solidFill>
                <a:latin typeface="Calibri"/>
              </a:rPr>
              <a:t>▸  </a:t>
            </a:r>
            <a:r>
              <a:rPr sz="1300" b="0">
                <a:solidFill>
                  <a:srgbClr val="141B2E"/>
                </a:solidFill>
                <a:latin typeface="Calibri"/>
              </a:rPr>
              <a:t>Numbers are </a:t>
            </a:r>
            <a:r>
              <a:rPr sz="1300" b="1">
                <a:solidFill>
                  <a:srgbClr val="141B2E"/>
                </a:solidFill>
                <a:latin typeface="Calibri"/>
              </a:rPr>
              <a:t>single-run, first-pass</a:t>
            </a:r>
            <a:r>
              <a:rPr sz="1300" b="0">
                <a:solidFill>
                  <a:srgbClr val="141B2E"/>
                </a:solidFill>
                <a:latin typeface="Calibri"/>
              </a:rPr>
              <a:t> on official splits — internally consistent, not seed-averaged.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D6CDF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1B2E"/>
                </a:solidFill>
                <a:latin typeface="Calibri"/>
              </a:rPr>
              <a:t>Improvement: Transductive Prototype Rectification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solidFill>
            <a:srgbClr val="EB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STAG-STI · Few-Shot Class-Incremental Learning · Review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109728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A6778"/>
                </a:solidFill>
                <a:latin typeface="Calibri"/>
              </a:rPr>
              <a:t>A BD-CSPN-style transductive step refines novel prototypes using unlabelled test features — the only lever that improved every metric.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1737360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173736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80" y="1920240"/>
            <a:ext cx="1572768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0280" y="1920240"/>
            <a:ext cx="157276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Final (ind.)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13048" y="1920240"/>
            <a:ext cx="1572768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3048" y="1920240"/>
            <a:ext cx="157276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Final (transd.)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85816" y="1920240"/>
            <a:ext cx="1572768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85816" y="1920240"/>
            <a:ext cx="157276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A_N (ind.)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58584" y="1920240"/>
            <a:ext cx="1572768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58584" y="1920240"/>
            <a:ext cx="157276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A_N (transd.)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31352" y="1920240"/>
            <a:ext cx="1572768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31352" y="1920240"/>
            <a:ext cx="157276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HM (ind.)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04120" y="1920240"/>
            <a:ext cx="1572768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04120" y="1920240"/>
            <a:ext cx="157276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HM (transd.)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322576"/>
            <a:ext cx="1737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2322576"/>
            <a:ext cx="16824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41B2E"/>
                </a:solidFill>
                <a:latin typeface="Calibri"/>
              </a:rPr>
              <a:t>CIFAR-100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40280" y="2322576"/>
            <a:ext cx="15727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67712" y="2322576"/>
            <a:ext cx="151790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49.53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13048" y="2322576"/>
            <a:ext cx="15727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0" y="2322576"/>
            <a:ext cx="151790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50.17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85816" y="2322576"/>
            <a:ext cx="15727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13248" y="2322576"/>
            <a:ext cx="151790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20.75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58584" y="2322576"/>
            <a:ext cx="15727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86016" y="2322576"/>
            <a:ext cx="151790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21.45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31352" y="2322576"/>
            <a:ext cx="15727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58784" y="2322576"/>
            <a:ext cx="151790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31.87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04120" y="2322576"/>
            <a:ext cx="157276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31552" y="2322576"/>
            <a:ext cx="151790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32.76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2798064"/>
            <a:ext cx="1737360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2798064"/>
            <a:ext cx="16824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41B2E"/>
                </a:solidFill>
                <a:latin typeface="Calibri"/>
              </a:rPr>
              <a:t>miniImageNet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40280" y="2798064"/>
            <a:ext cx="1572768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67712" y="2798064"/>
            <a:ext cx="151790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40.25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13048" y="2798064"/>
            <a:ext cx="1572768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40480" y="2798064"/>
            <a:ext cx="151790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40.89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85816" y="2798064"/>
            <a:ext cx="1572768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13248" y="2798064"/>
            <a:ext cx="151790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16.45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58584" y="2798064"/>
            <a:ext cx="1572768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86016" y="2798064"/>
            <a:ext cx="151790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16.53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31352" y="2798064"/>
            <a:ext cx="1572768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58784" y="2798064"/>
            <a:ext cx="151790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25.44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04120" y="2798064"/>
            <a:ext cx="1572768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31552" y="2798064"/>
            <a:ext cx="151790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41B2E"/>
                </a:solidFill>
                <a:latin typeface="Calibri"/>
              </a:rPr>
              <a:t>25.64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3273552"/>
            <a:ext cx="1737360" cy="475488"/>
          </a:xfrm>
          <a:prstGeom prst="rect">
            <a:avLst/>
          </a:prstGeom>
          <a:solidFill>
            <a:srgbClr val="EBEFF6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0352" y="3273552"/>
            <a:ext cx="16824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41B2E"/>
                </a:solidFill>
                <a:latin typeface="Calibri"/>
              </a:rPr>
              <a:t>CUB-200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40280" y="3273552"/>
            <a:ext cx="1572768" cy="475488"/>
          </a:xfrm>
          <a:prstGeom prst="rect">
            <a:avLst/>
          </a:prstGeom>
          <a:solidFill>
            <a:srgbClr val="EBEFF6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267712" y="3273552"/>
            <a:ext cx="151790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41B2E"/>
                </a:solidFill>
                <a:latin typeface="Calibri"/>
              </a:rPr>
              <a:t>49.71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13048" y="3273552"/>
            <a:ext cx="1572768" cy="475488"/>
          </a:xfrm>
          <a:prstGeom prst="rect">
            <a:avLst/>
          </a:prstGeom>
          <a:solidFill>
            <a:srgbClr val="EBEFF6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40480" y="3273552"/>
            <a:ext cx="151790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41B2E"/>
                </a:solidFill>
                <a:latin typeface="Calibri"/>
              </a:rPr>
              <a:t>50.91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85816" y="3273552"/>
            <a:ext cx="1572768" cy="475488"/>
          </a:xfrm>
          <a:prstGeom prst="rect">
            <a:avLst/>
          </a:prstGeom>
          <a:solidFill>
            <a:srgbClr val="EBEFF6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13248" y="3273552"/>
            <a:ext cx="151790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41B2E"/>
                </a:solidFill>
                <a:latin typeface="Calibri"/>
              </a:rPr>
              <a:t>30.85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58584" y="3273552"/>
            <a:ext cx="1572768" cy="475488"/>
          </a:xfrm>
          <a:prstGeom prst="rect">
            <a:avLst/>
          </a:prstGeom>
          <a:solidFill>
            <a:srgbClr val="EBEFF6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86016" y="3273552"/>
            <a:ext cx="151790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41B2E"/>
                </a:solidFill>
                <a:latin typeface="Calibri"/>
              </a:rPr>
              <a:t>33.52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31352" y="3273552"/>
            <a:ext cx="1572768" cy="475488"/>
          </a:xfrm>
          <a:prstGeom prst="rect">
            <a:avLst/>
          </a:prstGeom>
          <a:solidFill>
            <a:srgbClr val="EBEFF6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58784" y="3273552"/>
            <a:ext cx="151790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41B2E"/>
                </a:solidFill>
                <a:latin typeface="Calibri"/>
              </a:rPr>
              <a:t>42.64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04120" y="3273552"/>
            <a:ext cx="1572768" cy="475488"/>
          </a:xfrm>
          <a:prstGeom prst="rect">
            <a:avLst/>
          </a:prstGeom>
          <a:solidFill>
            <a:srgbClr val="EBEFF6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31552" y="3273552"/>
            <a:ext cx="1517904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41B2E"/>
                </a:solidFill>
                <a:latin typeface="Calibri"/>
              </a:rPr>
              <a:t>45.06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4114800"/>
            <a:ext cx="10972800" cy="20116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79E8A"/>
                </a:solidFill>
                <a:latin typeface="Calibri"/>
              </a:rPr>
              <a:t>●  </a:t>
            </a:r>
            <a:r>
              <a:rPr sz="1350" b="1">
                <a:solidFill>
                  <a:srgbClr val="141B2E"/>
                </a:solidFill>
                <a:latin typeface="Calibri"/>
              </a:rPr>
              <a:t>Every metric improves</a:t>
            </a:r>
            <a:r>
              <a:rPr sz="1350" b="0">
                <a:solidFill>
                  <a:srgbClr val="141B2E"/>
                </a:solidFill>
                <a:latin typeface="Calibri"/>
              </a:rPr>
              <a:t> on all three datasets — no base↔novel trade.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79E8A"/>
                </a:solidFill>
                <a:latin typeface="Calibri"/>
              </a:rPr>
              <a:t>●  </a:t>
            </a:r>
            <a:r>
              <a:rPr sz="1350" b="1">
                <a:solidFill>
                  <a:srgbClr val="141B2E"/>
                </a:solidFill>
                <a:latin typeface="Calibri"/>
              </a:rPr>
              <a:t>Biggest gain on CUB:</a:t>
            </a:r>
            <a:r>
              <a:rPr sz="1350" b="0">
                <a:solidFill>
                  <a:srgbClr val="141B2E"/>
                </a:solidFill>
                <a:latin typeface="Calibri"/>
              </a:rPr>
              <a:t> A_N +2.7, HM +2.4 (transductive refinement helps most when novel prototypes are noisiest).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179E8A"/>
                </a:solidFill>
                <a:latin typeface="Calibri"/>
              </a:rPr>
              <a:t>●  </a:t>
            </a:r>
            <a:r>
              <a:rPr sz="1350" b="0">
                <a:solidFill>
                  <a:srgbClr val="141B2E"/>
                </a:solidFill>
                <a:latin typeface="Calibri"/>
              </a:rPr>
              <a:t>Combined with </a:t>
            </a:r>
            <a:r>
              <a:rPr sz="1350" b="1">
                <a:solidFill>
                  <a:srgbClr val="141B2E"/>
                </a:solidFill>
                <a:latin typeface="Calibri"/>
              </a:rPr>
              <a:t>full-data base prototypes</a:t>
            </a:r>
            <a:r>
              <a:rPr sz="1350" b="0">
                <a:solidFill>
                  <a:srgbClr val="141B2E"/>
                </a:solidFill>
                <a:latin typeface="Calibri"/>
              </a:rPr>
              <a:t> on weak backbones, best-config gains reach </a:t>
            </a:r>
            <a:r>
              <a:rPr sz="1350" b="1">
                <a:solidFill>
                  <a:srgbClr val="141B2E"/>
                </a:solidFill>
                <a:latin typeface="Calibri"/>
              </a:rPr>
              <a:t>+1.2 to +1.6 overall</a:t>
            </a:r>
            <a:r>
              <a:rPr sz="1350" b="0">
                <a:solidFill>
                  <a:srgbClr val="141B2E"/>
                </a:solidFill>
                <a:latin typeface="Calibri"/>
              </a:rPr>
              <a:t> (next slide).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D6CDF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1B2E"/>
                </a:solidFill>
                <a:latin typeface="Calibri"/>
              </a:rPr>
              <a:t>Cross-Domain Transfer &amp; Best-Config Gains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solidFill>
            <a:srgbClr val="EB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STAG-STI · Few-Shot Class-Incremental Learning · Review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Cross-domain: miniImageNet → CUB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691640"/>
            <a:ext cx="2651760" cy="1554480"/>
          </a:xfrm>
          <a:prstGeom prst="rect">
            <a:avLst/>
          </a:prstGeom>
          <a:solidFill>
            <a:srgbClr val="F4F6FA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691640"/>
            <a:ext cx="2651760" cy="82296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856232"/>
            <a:ext cx="26517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D6CDF"/>
                </a:solidFill>
                <a:latin typeface="Calibri"/>
              </a:rPr>
              <a:t>66.7%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532888"/>
            <a:ext cx="26517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41B2E"/>
                </a:solidFill>
                <a:latin typeface="Calibri"/>
              </a:rPr>
              <a:t>Base (miniImageNet)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691640"/>
            <a:ext cx="2651760" cy="1554480"/>
          </a:xfrm>
          <a:prstGeom prst="rect">
            <a:avLst/>
          </a:prstGeom>
          <a:solidFill>
            <a:srgbClr val="F4F6FA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1691640"/>
            <a:ext cx="2651760" cy="82296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1856232"/>
            <a:ext cx="26517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08A1E"/>
                </a:solidFill>
                <a:latin typeface="Calibri"/>
              </a:rPr>
              <a:t>44.3%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532888"/>
            <a:ext cx="26517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41B2E"/>
                </a:solidFill>
                <a:latin typeface="Calibri"/>
              </a:rPr>
              <a:t>Final (all seen)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429000"/>
            <a:ext cx="2651760" cy="1554480"/>
          </a:xfrm>
          <a:prstGeom prst="rect">
            <a:avLst/>
          </a:prstGeom>
          <a:solidFill>
            <a:srgbClr val="F4F6FA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429000"/>
            <a:ext cx="2651760" cy="822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93592"/>
            <a:ext cx="26517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C0392B"/>
                </a:solidFill>
                <a:latin typeface="Calibri"/>
              </a:rPr>
              <a:t>22.4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270248"/>
            <a:ext cx="26517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41B2E"/>
                </a:solidFill>
                <a:latin typeface="Calibri"/>
              </a:rPr>
              <a:t>PD (forgetting)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3429000"/>
            <a:ext cx="2651760" cy="1554480"/>
          </a:xfrm>
          <a:prstGeom prst="rect">
            <a:avLst/>
          </a:prstGeom>
          <a:solidFill>
            <a:srgbClr val="F4F6FA"/>
          </a:solidFill>
          <a:ln w="9525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91840" y="3429000"/>
            <a:ext cx="2651760" cy="82296"/>
          </a:xfrm>
          <a:prstGeom prst="rect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0" y="3593592"/>
            <a:ext cx="26517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79E8A"/>
                </a:solidFill>
                <a:latin typeface="Calibri"/>
              </a:rPr>
              <a:t>14.8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270248"/>
            <a:ext cx="26517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41B2E"/>
                </a:solidFill>
                <a:latin typeface="Calibri"/>
              </a:rPr>
              <a:t>HM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120640"/>
            <a:ext cx="54864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A6778"/>
                </a:solidFill>
                <a:latin typeface="Calibri"/>
              </a:rPr>
              <a:t>Domain shift is hard: A_N drops to 8.4 — features tuned on natural images transfer only partially to fine-grained birds.</a:t>
            </a:r>
          </a:p>
        </p:txBody>
      </p:sp>
      <p:pic>
        <p:nvPicPr>
          <p:cNvPr id="28" name="Picture 27" descr="impr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486400" cy="299923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309360" y="5212080"/>
            <a:ext cx="54864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79E8A"/>
                </a:solidFill>
                <a:latin typeface="Calibri"/>
              </a:rPr>
              <a:t>Best eval-only stack: </a:t>
            </a:r>
            <a:r>
              <a:rPr sz="1250" b="0">
                <a:solidFill>
                  <a:srgbClr val="141B2E"/>
                </a:solidFill>
                <a:latin typeface="Calibri"/>
              </a:rPr>
              <a:t>full-data base prototypes (where the backbone is weak) + transductive rectification — no architecture change, no retraining.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D6CDF"/>
                </a:solidFill>
                <a:latin typeface="Calibri"/>
              </a:rP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1B2E"/>
                </a:solidFill>
                <a:latin typeface="Calibri"/>
              </a:rPr>
              <a:t>Ablation Study (CIFAR-100)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solidFill>
            <a:srgbClr val="EB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STAG-STI · Few-Shot Class-Incremental Learning · Review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A6778"/>
                </a:solidFill>
                <a:latin typeface="Calibri"/>
              </a:rPr>
              <a:t>Each component removed in isolation, sharing the same frozen backbone. HM is the deciding metric.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74519"/>
            <a:ext cx="4023360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402336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Configuration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1874519"/>
            <a:ext cx="1325880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874519"/>
            <a:ext cx="132588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1874519"/>
            <a:ext cx="1325880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1874519"/>
            <a:ext cx="132588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A_T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1874519"/>
            <a:ext cx="1325880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1874519"/>
            <a:ext cx="132588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A_B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1874519"/>
            <a:ext cx="1325880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1874519"/>
            <a:ext cx="132588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A_N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29800" y="1874519"/>
            <a:ext cx="1325880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1874519"/>
            <a:ext cx="132588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HM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276855"/>
            <a:ext cx="4023360" cy="475488"/>
          </a:xfrm>
          <a:prstGeom prst="rect">
            <a:avLst/>
          </a:prstGeom>
          <a:solidFill>
            <a:srgbClr val="EBEFF6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2276855"/>
            <a:ext cx="39684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1B2E"/>
                </a:solidFill>
                <a:latin typeface="Calibri"/>
              </a:rPr>
              <a:t>Full 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2276855"/>
            <a:ext cx="1325880" cy="475488"/>
          </a:xfrm>
          <a:prstGeom prst="rect">
            <a:avLst/>
          </a:prstGeom>
          <a:solidFill>
            <a:srgbClr val="EBEFF6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2276855"/>
            <a:ext cx="127101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1B2E"/>
                </a:solidFill>
                <a:latin typeface="Calibri"/>
              </a:rPr>
              <a:t>78.22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2276855"/>
            <a:ext cx="1325880" cy="475488"/>
          </a:xfrm>
          <a:prstGeom prst="rect">
            <a:avLst/>
          </a:prstGeom>
          <a:solidFill>
            <a:srgbClr val="EBEFF6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79592" y="2276855"/>
            <a:ext cx="127101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1B2E"/>
                </a:solidFill>
                <a:latin typeface="Calibri"/>
              </a:rPr>
              <a:t>49.53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2276855"/>
            <a:ext cx="1325880" cy="475488"/>
          </a:xfrm>
          <a:prstGeom prst="rect">
            <a:avLst/>
          </a:prstGeom>
          <a:solidFill>
            <a:srgbClr val="EBEFF6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05472" y="2276855"/>
            <a:ext cx="127101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1B2E"/>
                </a:solidFill>
                <a:latin typeface="Calibri"/>
              </a:rPr>
              <a:t>68.72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3920" y="2276855"/>
            <a:ext cx="1325880" cy="475488"/>
          </a:xfrm>
          <a:prstGeom prst="rect">
            <a:avLst/>
          </a:prstGeom>
          <a:solidFill>
            <a:srgbClr val="EBEFF6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1352" y="2276855"/>
            <a:ext cx="127101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1B2E"/>
                </a:solidFill>
                <a:latin typeface="Calibri"/>
              </a:rPr>
              <a:t>20.75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29800" y="2276855"/>
            <a:ext cx="1325880" cy="475488"/>
          </a:xfrm>
          <a:prstGeom prst="rect">
            <a:avLst/>
          </a:prstGeom>
          <a:solidFill>
            <a:srgbClr val="EBEFF6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57232" y="2276855"/>
            <a:ext cx="127101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1B2E"/>
                </a:solidFill>
                <a:latin typeface="Calibri"/>
              </a:rPr>
              <a:t>31.87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2752343"/>
            <a:ext cx="4023360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2752343"/>
            <a:ext cx="39684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1B2E"/>
                </a:solidFill>
                <a:latin typeface="Calibri"/>
              </a:rPr>
              <a:t>− contrastive (SupCon)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26280" y="2752343"/>
            <a:ext cx="1325880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53712" y="2752343"/>
            <a:ext cx="127101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78.53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52160" y="2752343"/>
            <a:ext cx="1325880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79592" y="2752343"/>
            <a:ext cx="127101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49.28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78040" y="2752343"/>
            <a:ext cx="1325880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05472" y="2752343"/>
            <a:ext cx="127101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69.97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03920" y="2752343"/>
            <a:ext cx="1325880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31352" y="2752343"/>
            <a:ext cx="127101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18.25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29800" y="2752343"/>
            <a:ext cx="1325880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57232" y="2752343"/>
            <a:ext cx="127101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28.95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3227831"/>
            <a:ext cx="4023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" y="3227831"/>
            <a:ext cx="39684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1B2E"/>
                </a:solidFill>
                <a:latin typeface="Calibri"/>
              </a:rPr>
              <a:t>− topology (GAT graph)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26280" y="3227831"/>
            <a:ext cx="13258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53712" y="3227831"/>
            <a:ext cx="127101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77.75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52160" y="3227831"/>
            <a:ext cx="13258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79592" y="3227831"/>
            <a:ext cx="127101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49.69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78040" y="3227831"/>
            <a:ext cx="13258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05472" y="3227831"/>
            <a:ext cx="127101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70.98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03920" y="3227831"/>
            <a:ext cx="13258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31352" y="3227831"/>
            <a:ext cx="127101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17.75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29800" y="3227831"/>
            <a:ext cx="13258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57232" y="3227831"/>
            <a:ext cx="127101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28.40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3703319"/>
            <a:ext cx="4023360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0352" y="3703319"/>
            <a:ext cx="39684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1B2E"/>
                </a:solidFill>
                <a:latin typeface="Calibri"/>
              </a:rPr>
              <a:t>− age-decay (STI)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26280" y="3703319"/>
            <a:ext cx="1325880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53712" y="3703319"/>
            <a:ext cx="127101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78.50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52160" y="3703319"/>
            <a:ext cx="1325880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879592" y="3703319"/>
            <a:ext cx="127101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49.46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78040" y="3703319"/>
            <a:ext cx="1325880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05472" y="3703319"/>
            <a:ext cx="127101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70.15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03920" y="3703319"/>
            <a:ext cx="1325880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31352" y="3703319"/>
            <a:ext cx="127101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18.43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829800" y="3703319"/>
            <a:ext cx="1325880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857232" y="3703319"/>
            <a:ext cx="127101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29.18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4206240"/>
            <a:ext cx="10972800" cy="20116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D6CDF"/>
                </a:solidFill>
                <a:latin typeface="Calibri"/>
              </a:rPr>
              <a:t>●  </a:t>
            </a:r>
            <a:r>
              <a:rPr sz="1350" b="1">
                <a:solidFill>
                  <a:srgbClr val="141B2E"/>
                </a:solidFill>
                <a:latin typeface="Calibri"/>
              </a:rPr>
              <a:t>Removing any component lowers HM</a:t>
            </a:r>
            <a:r>
              <a:rPr sz="1350" b="0">
                <a:solidFill>
                  <a:srgbClr val="141B2E"/>
                </a:solidFill>
                <a:latin typeface="Calibri"/>
              </a:rPr>
              <a:t> — every piece earns its place.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D6CDF"/>
                </a:solidFill>
                <a:latin typeface="Calibri"/>
              </a:rPr>
              <a:t>●  </a:t>
            </a:r>
            <a:r>
              <a:rPr sz="1350" b="0">
                <a:solidFill>
                  <a:srgbClr val="141B2E"/>
                </a:solidFill>
                <a:latin typeface="Calibri"/>
              </a:rPr>
              <a:t>Ablations </a:t>
            </a:r>
            <a:r>
              <a:rPr sz="1350" b="1">
                <a:solidFill>
                  <a:srgbClr val="141B2E"/>
                </a:solidFill>
                <a:latin typeface="Calibri"/>
              </a:rPr>
              <a:t>raise A_B but crash A_N</a:t>
            </a:r>
            <a:r>
              <a:rPr sz="1350" b="0">
                <a:solidFill>
                  <a:srgbClr val="141B2E"/>
                </a:solidFill>
                <a:latin typeface="Calibri"/>
              </a:rPr>
              <a:t>: without the full model, the system defaults to over-favouring base classes.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2D6CDF"/>
                </a:solidFill>
                <a:latin typeface="Calibri"/>
              </a:rPr>
              <a:t>●  </a:t>
            </a:r>
            <a:r>
              <a:rPr sz="1350" b="0">
                <a:solidFill>
                  <a:srgbClr val="141B2E"/>
                </a:solidFill>
                <a:latin typeface="Calibri"/>
              </a:rPr>
              <a:t>The components' shared job is to </a:t>
            </a:r>
            <a:r>
              <a:rPr sz="1350" b="1">
                <a:solidFill>
                  <a:srgbClr val="141B2E"/>
                </a:solidFill>
                <a:latin typeface="Calibri"/>
              </a:rPr>
              <a:t>protect novel-class accuracy</a:t>
            </a:r>
            <a:r>
              <a:rPr sz="1350" b="0">
                <a:solidFill>
                  <a:srgbClr val="141B2E"/>
                </a:solidFill>
                <a:latin typeface="Calibri"/>
              </a:rPr>
              <a:t> — exactly the FSCIL bottleneck.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D6CDF"/>
                </a:solidFill>
                <a:latin typeface="Calibri"/>
              </a:rP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1B2E"/>
                </a:solidFill>
                <a:latin typeface="Calibri"/>
              </a:rPr>
              <a:t>CLOSER-Style Base Objective (Transfer Study)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solidFill>
            <a:srgbClr val="EB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STAG-STI · Few-Shot Class-Incremental Learning · Review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A6778"/>
                </a:solidFill>
                <a:latin typeface="Calibri"/>
              </a:rPr>
              <a:t>Testing an alternative base objective (Oh et al., ECCV'24) that spreads features and reduces inter-class distance for reusable low/mid features.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65960"/>
            <a:ext cx="2011680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65960"/>
            <a:ext cx="201168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1965960"/>
            <a:ext cx="1508760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1965960"/>
            <a:ext cx="150876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A_T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1965960"/>
            <a:ext cx="1508760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1965960"/>
            <a:ext cx="150876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A_B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32120" y="1965960"/>
            <a:ext cx="1508760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32120" y="1965960"/>
            <a:ext cx="150876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A_N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1965960"/>
            <a:ext cx="1508760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1965960"/>
            <a:ext cx="150876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HM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49640" y="1965960"/>
            <a:ext cx="1508760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1965960"/>
            <a:ext cx="150876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ΔA_N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0" y="1965960"/>
            <a:ext cx="1508760" cy="402336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1965960"/>
            <a:ext cx="1508760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ΔHM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368296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2368296"/>
            <a:ext cx="195681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1B2E"/>
                </a:solidFill>
                <a:latin typeface="Calibri"/>
              </a:rPr>
              <a:t>CIFAR-100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2368296"/>
            <a:ext cx="1508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42032" y="2368296"/>
            <a:ext cx="14538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46.42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23360" y="2368296"/>
            <a:ext cx="1508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50792" y="2368296"/>
            <a:ext cx="14538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61.12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2368296"/>
            <a:ext cx="1508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59552" y="2368296"/>
            <a:ext cx="14538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24.38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0" y="2368296"/>
            <a:ext cx="1508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68312" y="2368296"/>
            <a:ext cx="14538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34.85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2368296"/>
            <a:ext cx="1508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77072" y="2368296"/>
            <a:ext cx="14538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+3.6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0" y="2368296"/>
            <a:ext cx="1508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85832" y="2368296"/>
            <a:ext cx="14538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+3.0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2843784"/>
            <a:ext cx="2011680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2843784"/>
            <a:ext cx="195681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1B2E"/>
                </a:solidFill>
                <a:latin typeface="Calibri"/>
              </a:rPr>
              <a:t>miniImageNet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14600" y="2843784"/>
            <a:ext cx="1508760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42032" y="2843784"/>
            <a:ext cx="14538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37.38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23360" y="2843784"/>
            <a:ext cx="1508760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50792" y="2843784"/>
            <a:ext cx="14538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53.23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32120" y="2843784"/>
            <a:ext cx="1508760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59552" y="2843784"/>
            <a:ext cx="14538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13.60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40880" y="2843784"/>
            <a:ext cx="1508760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68312" y="2843784"/>
            <a:ext cx="14538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21.67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49640" y="2843784"/>
            <a:ext cx="1508760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77072" y="2843784"/>
            <a:ext cx="14538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−2.8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058400" y="2843784"/>
            <a:ext cx="1508760" cy="475488"/>
          </a:xfrm>
          <a:prstGeom prst="rect">
            <a:avLst/>
          </a:prstGeom>
          <a:solidFill>
            <a:srgbClr val="F4F6FA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85832" y="2843784"/>
            <a:ext cx="14538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−3.8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3319272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0352" y="3319272"/>
            <a:ext cx="195681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41B2E"/>
                </a:solidFill>
                <a:latin typeface="Calibri"/>
              </a:rPr>
              <a:t>CUB-200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14600" y="3319272"/>
            <a:ext cx="1508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42032" y="3319272"/>
            <a:ext cx="14538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47.98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23360" y="3319272"/>
            <a:ext cx="1508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50792" y="3319272"/>
            <a:ext cx="14538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64.49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32120" y="3319272"/>
            <a:ext cx="1508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59552" y="3319272"/>
            <a:ext cx="14538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31.84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40880" y="3319272"/>
            <a:ext cx="1508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68312" y="3319272"/>
            <a:ext cx="14538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42.63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549640" y="3319272"/>
            <a:ext cx="1508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77072" y="3319272"/>
            <a:ext cx="14538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+1.0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58400" y="3319272"/>
            <a:ext cx="15087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85832" y="3319272"/>
            <a:ext cx="1453896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41B2E"/>
                </a:solidFill>
                <a:latin typeface="Calibri"/>
              </a:rPr>
              <a:t>−0.0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4251960"/>
            <a:ext cx="10972800" cy="20116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08A1E"/>
                </a:solidFill>
                <a:latin typeface="Calibri"/>
              </a:rPr>
              <a:t>●  </a:t>
            </a:r>
            <a:r>
              <a:rPr sz="1350" b="1">
                <a:solidFill>
                  <a:srgbClr val="141B2E"/>
                </a:solidFill>
                <a:latin typeface="Calibri"/>
              </a:rPr>
              <a:t>Dataset-dependent, not universal:</a:t>
            </a:r>
            <a:r>
              <a:rPr sz="1350" b="0">
                <a:solidFill>
                  <a:srgbClr val="141B2E"/>
                </a:solidFill>
                <a:latin typeface="Calibri"/>
              </a:rPr>
              <a:t> helped CIFAR-100 (+3.0 HM), hurt miniImageNet (−3.8 HM), neutral on CUB.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08A1E"/>
                </a:solidFill>
                <a:latin typeface="Calibri"/>
              </a:rPr>
              <a:t>●  </a:t>
            </a:r>
            <a:r>
              <a:rPr sz="1350" b="0">
                <a:solidFill>
                  <a:srgbClr val="141B2E"/>
                </a:solidFill>
                <a:latin typeface="Calibri"/>
              </a:rPr>
              <a:t>An honest negative-ish result: no single base objective wins everywhere — the right recipe depends on backbone strength.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08A1E"/>
                </a:solidFill>
                <a:latin typeface="Calibri"/>
              </a:rPr>
              <a:t>●  </a:t>
            </a:r>
            <a:r>
              <a:rPr sz="1350" b="0">
                <a:solidFill>
                  <a:srgbClr val="141B2E"/>
                </a:solidFill>
                <a:latin typeface="Calibri"/>
              </a:rPr>
              <a:t>Reported transparently rather than cherry-picked — a core part of the analysis.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D6CDF"/>
                </a:solidFill>
                <a:latin typeface="Calibri"/>
              </a:rP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1B2E"/>
                </a:solidFill>
                <a:latin typeface="Calibri"/>
              </a:rPr>
              <a:t>Improvement Study — What Actually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solidFill>
            <a:srgbClr val="EB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STAG-STI · Few-Shot Class-Incremental Learning · Review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A6778"/>
                </a:solidFill>
                <a:latin typeface="Calibri"/>
              </a:rPr>
              <a:t>Every no-architecture-change lever, measured honestly: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83080"/>
            <a:ext cx="5440680" cy="4206240"/>
          </a:xfrm>
          <a:prstGeom prst="rect">
            <a:avLst/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783080"/>
            <a:ext cx="5440680" cy="457200"/>
          </a:xfrm>
          <a:prstGeom prst="rect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783080"/>
            <a:ext cx="54406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✓  Helped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23160"/>
            <a:ext cx="5029200" cy="34747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179E8A"/>
                </a:solidFill>
                <a:latin typeface="Calibri"/>
              </a:rPr>
              <a:t>▸  </a:t>
            </a:r>
            <a:r>
              <a:rPr sz="1350" b="1">
                <a:solidFill>
                  <a:srgbClr val="141B2E"/>
                </a:solidFill>
                <a:latin typeface="Calibri"/>
              </a:rPr>
              <a:t>Transductive rectification</a:t>
            </a:r>
            <a:r>
              <a:rPr sz="1350" b="0">
                <a:solidFill>
                  <a:srgbClr val="141B2E"/>
                </a:solidFill>
                <a:latin typeface="Calibri"/>
              </a:rPr>
              <a:t> — every metric up, all datasets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179E8A"/>
                </a:solidFill>
                <a:latin typeface="Calibri"/>
              </a:rPr>
              <a:t>▸  </a:t>
            </a:r>
            <a:r>
              <a:rPr sz="1350" b="1">
                <a:solidFill>
                  <a:srgbClr val="141B2E"/>
                </a:solidFill>
                <a:latin typeface="Calibri"/>
              </a:rPr>
              <a:t>Full-data base prototypes</a:t>
            </a:r>
            <a:r>
              <a:rPr sz="1350" b="0">
                <a:solidFill>
                  <a:srgbClr val="141B2E"/>
                </a:solidFill>
                <a:latin typeface="Calibri"/>
              </a:rPr>
              <a:t> — helps weak-backbone datasets (mini)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179E8A"/>
                </a:solidFill>
                <a:latin typeface="Calibri"/>
              </a:rPr>
              <a:t>▸  </a:t>
            </a:r>
            <a:r>
              <a:rPr sz="1350" b="1">
                <a:solidFill>
                  <a:srgbClr val="141B2E"/>
                </a:solidFill>
                <a:latin typeface="Calibri"/>
              </a:rPr>
              <a:t>Best stack: +1.2 to +1.6</a:t>
            </a:r>
            <a:r>
              <a:rPr sz="1350" b="0">
                <a:solidFill>
                  <a:srgbClr val="141B2E"/>
                </a:solidFill>
                <a:latin typeface="Calibri"/>
              </a:rPr>
              <a:t> overall accuracy, free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783080"/>
            <a:ext cx="5440680" cy="4206240"/>
          </a:xfrm>
          <a:prstGeom prst="rect">
            <a:avLst/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783080"/>
            <a:ext cx="544068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783080"/>
            <a:ext cx="544068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✗  Did not help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23160"/>
            <a:ext cx="5029200" cy="34747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 b="1">
                <a:solidFill>
                  <a:srgbClr val="141B2E"/>
                </a:solidFill>
                <a:latin typeface="Calibri"/>
              </a:rPr>
              <a:t>Novel-logit bias</a:t>
            </a:r>
            <a:r>
              <a:rPr sz="1350" b="0">
                <a:solidFill>
                  <a:srgbClr val="141B2E"/>
                </a:solidFill>
                <a:latin typeface="Calibri"/>
              </a:rPr>
              <a:t> — only trades base ↔ novel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 b="1">
                <a:solidFill>
                  <a:srgbClr val="141B2E"/>
                </a:solidFill>
                <a:latin typeface="Calibri"/>
              </a:rPr>
              <a:t>Test-time / support augmentation</a:t>
            </a:r>
            <a:r>
              <a:rPr sz="1350" b="0">
                <a:solidFill>
                  <a:srgbClr val="141B2E"/>
                </a:solidFill>
                <a:latin typeface="Calibri"/>
              </a:rPr>
              <a:t> — no reliable gain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 b="1">
                <a:solidFill>
                  <a:srgbClr val="141B2E"/>
                </a:solidFill>
                <a:latin typeface="Calibri"/>
              </a:rPr>
              <a:t>Feature centering</a:t>
            </a:r>
            <a:r>
              <a:rPr sz="1350" b="0">
                <a:solidFill>
                  <a:srgbClr val="141B2E"/>
                </a:solidFill>
                <a:latin typeface="Calibri"/>
              </a:rPr>
              <a:t> — negligible effect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3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 b="1">
                <a:solidFill>
                  <a:srgbClr val="141B2E"/>
                </a:solidFill>
                <a:latin typeface="Calibri"/>
              </a:rPr>
              <a:t>Longer backbone (100 ep)</a:t>
            </a:r>
            <a:r>
              <a:rPr sz="1350" b="0">
                <a:solidFill>
                  <a:srgbClr val="141B2E"/>
                </a:solidFill>
                <a:latin typeface="Calibri"/>
              </a:rPr>
              <a:t> — blocked by compute (see Slide 19)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D6CDF"/>
                </a:solidFill>
                <a:latin typeface="Calibri"/>
              </a:rP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1B2E"/>
                </a:solidFill>
                <a:latin typeface="Calibri"/>
              </a:rPr>
              <a:t>Key Finding — Novel-Class Accuracy Is the Bottleneck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solidFill>
            <a:srgbClr val="EB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STAG-STI · Few-Shot Class-Incremental Learning · Review 2</a:t>
            </a:r>
          </a:p>
        </p:txBody>
      </p:sp>
      <p:pic>
        <p:nvPicPr>
          <p:cNvPr id="10" name="Picture 9" descr="base_no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334914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903720" y="1371600"/>
            <a:ext cx="4754880" cy="4480560"/>
          </a:xfrm>
          <a:prstGeom prst="rect">
            <a:avLst/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1554480"/>
            <a:ext cx="4389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The central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148840"/>
            <a:ext cx="4389120" cy="3657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 b="0">
                <a:solidFill>
                  <a:srgbClr val="141B2E"/>
                </a:solidFill>
                <a:latin typeface="Calibri"/>
              </a:rPr>
              <a:t>Across all datasets </a:t>
            </a:r>
            <a:r>
              <a:rPr sz="1350" b="1">
                <a:solidFill>
                  <a:srgbClr val="141B2E"/>
                </a:solidFill>
                <a:latin typeface="Calibri"/>
              </a:rPr>
              <a:t>A_N (16–31%) ≪ A_B (56–69%)</a:t>
            </a:r>
            <a:r>
              <a:rPr sz="1350" b="0">
                <a:solidFill>
                  <a:srgbClr val="141B2E"/>
                </a:solidFill>
                <a:latin typeface="Calibri"/>
              </a:rPr>
              <a:t>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 b="0">
                <a:solidFill>
                  <a:srgbClr val="141B2E"/>
                </a:solidFill>
                <a:latin typeface="Calibri"/>
              </a:rPr>
              <a:t>The model remembers base classes well; it </a:t>
            </a:r>
            <a:r>
              <a:rPr sz="1350" b="1">
                <a:solidFill>
                  <a:srgbClr val="141B2E"/>
                </a:solidFill>
                <a:latin typeface="Calibri"/>
              </a:rPr>
              <a:t>struggles to learn novel ones</a:t>
            </a:r>
            <a:r>
              <a:rPr sz="1350" b="0">
                <a:solidFill>
                  <a:srgbClr val="141B2E"/>
                </a:solidFill>
                <a:latin typeface="Calibri"/>
              </a:rPr>
              <a:t>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 b="0">
                <a:solidFill>
                  <a:srgbClr val="141B2E"/>
                </a:solidFill>
                <a:latin typeface="Calibri"/>
              </a:rPr>
              <a:t>Overall accuracy and PD hide this — </a:t>
            </a:r>
            <a:r>
              <a:rPr sz="1350" b="1">
                <a:solidFill>
                  <a:srgbClr val="141B2E"/>
                </a:solidFill>
                <a:latin typeface="Calibri"/>
              </a:rPr>
              <a:t>HM exposes it</a:t>
            </a:r>
            <a:r>
              <a:rPr sz="1350" b="0">
                <a:solidFill>
                  <a:srgbClr val="141B2E"/>
                </a:solidFill>
                <a:latin typeface="Calibri"/>
              </a:rPr>
              <a:t>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 b="0">
                <a:solidFill>
                  <a:srgbClr val="141B2E"/>
                </a:solidFill>
                <a:latin typeface="Calibri"/>
              </a:rPr>
              <a:t>Every effective lever we found </a:t>
            </a:r>
            <a:r>
              <a:rPr sz="1350" b="1">
                <a:solidFill>
                  <a:srgbClr val="141B2E"/>
                </a:solidFill>
                <a:latin typeface="Calibri"/>
              </a:rPr>
              <a:t>targets A_N specifically</a:t>
            </a:r>
            <a:r>
              <a:rPr sz="1350" b="0">
                <a:solidFill>
                  <a:srgbClr val="141B2E"/>
                </a:solidFill>
                <a:latin typeface="Calibri"/>
              </a:rPr>
              <a:t>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 b="1">
                <a:solidFill>
                  <a:srgbClr val="141B2E"/>
                </a:solidFill>
                <a:latin typeface="Calibri"/>
              </a:rPr>
              <a:t>The ceiling is backbone quality:</a:t>
            </a:r>
            <a:r>
              <a:rPr sz="1350" b="0">
                <a:solidFill>
                  <a:srgbClr val="141B2E"/>
                </a:solidFill>
                <a:latin typeface="Calibri"/>
              </a:rPr>
              <a:t> a stronger frozen representation lifts A_N and A_B together.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96012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D6CDF"/>
                </a:solidFill>
                <a:latin typeface="Calibri"/>
              </a:rPr>
              <a:t>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06070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41B2E"/>
                </a:solidFill>
                <a:latin typeface="Calibri"/>
              </a:rPr>
              <a:t>Engineering Challenges, Bugs Fixed &amp; Limitations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solidFill>
            <a:srgbClr val="EB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23015" y="274320"/>
            <a:ext cx="502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E3A5F"/>
                </a:solidFill>
                <a:latin typeface="Calibri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51560"/>
            <a:ext cx="12191695" cy="25400"/>
          </a:xfrm>
          <a:prstGeom prst="rect">
            <a:avLst/>
          </a:prstGeom>
          <a:solidFill>
            <a:srgbClr val="D3D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A6778"/>
                </a:solidFill>
                <a:latin typeface="Calibri"/>
              </a:rPr>
              <a:t>STAG-STI · Few-Shot Class-Incremental Learning · Review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5440680" cy="2148840"/>
          </a:xfrm>
          <a:prstGeom prst="rect">
            <a:avLst/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6304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3A5F"/>
                </a:solidFill>
                <a:latin typeface="Calibri"/>
              </a:rPr>
              <a:t>Bugs caught by verifying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65960"/>
            <a:ext cx="5029200" cy="1463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C0392B"/>
                </a:solidFill>
                <a:latin typeface="Calibri"/>
              </a:rPr>
              <a:t>▸  </a:t>
            </a:r>
            <a:r>
              <a:rPr sz="1250" b="1">
                <a:solidFill>
                  <a:srgbClr val="141B2E"/>
                </a:solidFill>
                <a:latin typeface="Calibri"/>
              </a:rPr>
              <a:t>CUB base collapse 1% → 78%</a:t>
            </a:r>
            <a:r>
              <a:rPr sz="1250" b="0">
                <a:solidFill>
                  <a:srgbClr val="141B2E"/>
                </a:solidFill>
                <a:latin typeface="Calibri"/>
              </a:rPr>
              <a:t> — 100-class joint graph was out-of-distribution for the 15-way GAT; fixed by chunking base prototypes by episode-way.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C0392B"/>
                </a:solidFill>
                <a:latin typeface="Calibri"/>
              </a:rPr>
              <a:t>▸  </a:t>
            </a:r>
            <a:r>
              <a:rPr sz="1250" b="1">
                <a:solidFill>
                  <a:srgbClr val="141B2E"/>
                </a:solidFill>
                <a:latin typeface="Calibri"/>
              </a:rPr>
              <a:t>Cross-domain crash</a:t>
            </a:r>
            <a:r>
              <a:rPr sz="1250" b="0">
                <a:solidFill>
                  <a:srgbClr val="141B2E"/>
                </a:solidFill>
                <a:latin typeface="Calibri"/>
              </a:rPr>
              <a:t> — per-sample vs per-class mask shape mismatch; fixed.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440680" cy="2148840"/>
          </a:xfrm>
          <a:prstGeom prst="rect">
            <a:avLst/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3A5F"/>
                </a:solidFill>
                <a:latin typeface="Calibri"/>
              </a:rPr>
              <a:t>Config-leak fixes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65960"/>
            <a:ext cx="5029200" cy="1463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E08A1E"/>
                </a:solidFill>
                <a:latin typeface="Calibri"/>
              </a:rPr>
              <a:t>▸  </a:t>
            </a:r>
            <a:r>
              <a:rPr sz="1250" b="0">
                <a:solidFill>
                  <a:srgbClr val="141B2E"/>
                </a:solidFill>
                <a:latin typeface="Calibri"/>
              </a:rPr>
              <a:t>Per-dataset hyperparameters leaking across runs (e.g. CUB LR into CIFAR) — fixed with capture-once defaults.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E08A1E"/>
                </a:solidFill>
                <a:latin typeface="Calibri"/>
              </a:rPr>
              <a:t>▸  </a:t>
            </a:r>
            <a:r>
              <a:rPr sz="1250" b="0">
                <a:solidFill>
                  <a:srgbClr val="141B2E"/>
                </a:solidFill>
                <a:latin typeface="Calibri"/>
              </a:rPr>
              <a:t>Ablation weights not restoring — fixed with idempotent restore.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57600"/>
            <a:ext cx="11155680" cy="2286000"/>
          </a:xfrm>
          <a:prstGeom prst="rect">
            <a:avLst/>
          </a:prstGeom>
          <a:solidFill>
            <a:srgbClr val="F4F6FA"/>
          </a:solidFill>
          <a:ln w="12700">
            <a:solidFill>
              <a:srgbClr val="D3DA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94760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A6778"/>
                </a:solidFill>
                <a:latin typeface="Calibri"/>
              </a:rPr>
              <a:t>Honest limitations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97680"/>
            <a:ext cx="10789920" cy="15544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5A6778"/>
                </a:solidFill>
                <a:latin typeface="Calibri"/>
              </a:rPr>
              <a:t>●  </a:t>
            </a:r>
            <a:r>
              <a:rPr sz="1250" b="0">
                <a:solidFill>
                  <a:srgbClr val="141B2E"/>
                </a:solidFill>
                <a:latin typeface="Calibri"/>
              </a:rPr>
              <a:t>Numbers are </a:t>
            </a:r>
            <a:r>
              <a:rPr sz="1250" b="1">
                <a:solidFill>
                  <a:srgbClr val="141B2E"/>
                </a:solidFill>
                <a:latin typeface="Calibri"/>
              </a:rPr>
              <a:t>single-run, first-pass</a:t>
            </a:r>
            <a:r>
              <a:rPr sz="1250" b="0">
                <a:solidFill>
                  <a:srgbClr val="141B2E"/>
                </a:solidFill>
                <a:latin typeface="Calibri"/>
              </a:rPr>
              <a:t> on Apple-Silicon — internally consistent and reproducible, but not seed-averaged or tuned to compete with published SOTA.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5A6778"/>
                </a:solidFill>
                <a:latin typeface="Calibri"/>
              </a:rPr>
              <a:t>●  </a:t>
            </a:r>
            <a:r>
              <a:rPr sz="1250" b="1">
                <a:solidFill>
                  <a:srgbClr val="141B2E"/>
                </a:solidFill>
                <a:latin typeface="Calibri"/>
              </a:rPr>
              <a:t>Backbone training is compute-capped on this machine</a:t>
            </a:r>
            <a:r>
              <a:rPr sz="1250" b="0">
                <a:solidFill>
                  <a:srgbClr val="141B2E"/>
                </a:solidFill>
                <a:latin typeface="Calibri"/>
              </a:rPr>
              <a:t> (long background jobs are reaped ~40 min), so the biggest lever — a fully-trained backbone — could not be completed here. It needs a GPU.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5A6778"/>
                </a:solidFill>
                <a:latin typeface="Calibri"/>
              </a:rPr>
              <a:t>●  </a:t>
            </a:r>
            <a:r>
              <a:rPr sz="1250" b="0">
                <a:solidFill>
                  <a:srgbClr val="141B2E"/>
                </a:solidFill>
                <a:latin typeface="Calibri"/>
              </a:rPr>
              <a:t>The cross-domain protocol is this project's own definition, not a citable standard.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25880"/>
            <a:ext cx="3291840" cy="31750"/>
          </a:xfrm>
          <a:prstGeom prst="rect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79E8A"/>
                </a:solidFill>
                <a:latin typeface="Calibri"/>
              </a:rPr>
              <a:t>WHAT WAS DELIVERED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10698480" cy="20116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▸  </a:t>
            </a:r>
            <a:r>
              <a:rPr sz="1450" b="0">
                <a:solidFill>
                  <a:srgbClr val="E8EDF5"/>
                </a:solidFill>
                <a:latin typeface="Calibri"/>
              </a:rPr>
              <a:t>Full STAG-STI pipeline implemented and validated on </a:t>
            </a:r>
            <a:r>
              <a:rPr sz="1450" b="1">
                <a:solidFill>
                  <a:srgbClr val="E8EDF5"/>
                </a:solidFill>
                <a:latin typeface="Calibri"/>
              </a:rPr>
              <a:t>3 datasets + cross-domain</a:t>
            </a:r>
            <a:r>
              <a:rPr sz="1450" b="0">
                <a:solidFill>
                  <a:srgbClr val="E8EDF5"/>
                </a:solidFill>
                <a:latin typeface="Calibri"/>
              </a:rPr>
              <a:t>, official splits.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▸  </a:t>
            </a:r>
            <a:r>
              <a:rPr sz="1450" b="0">
                <a:solidFill>
                  <a:srgbClr val="E8EDF5"/>
                </a:solidFill>
                <a:latin typeface="Calibri"/>
              </a:rPr>
              <a:t>Complete </a:t>
            </a:r>
            <a:r>
              <a:rPr sz="1450" b="1">
                <a:solidFill>
                  <a:srgbClr val="E8EDF5"/>
                </a:solidFill>
                <a:latin typeface="Calibri"/>
              </a:rPr>
              <a:t>ablation</a:t>
            </a:r>
            <a:r>
              <a:rPr sz="1450" b="0">
                <a:solidFill>
                  <a:srgbClr val="E8EDF5"/>
                </a:solidFill>
                <a:latin typeface="Calibri"/>
              </a:rPr>
              <a:t> (every component earns its place) and an honest </a:t>
            </a:r>
            <a:r>
              <a:rPr sz="1450" b="1">
                <a:solidFill>
                  <a:srgbClr val="E8EDF5"/>
                </a:solidFill>
                <a:latin typeface="Calibri"/>
              </a:rPr>
              <a:t>improvement study</a:t>
            </a:r>
            <a:r>
              <a:rPr sz="1450" b="0">
                <a:solidFill>
                  <a:srgbClr val="E8EDF5"/>
                </a:solidFill>
                <a:latin typeface="Calibri"/>
              </a:rPr>
              <a:t>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▸  </a:t>
            </a:r>
            <a:r>
              <a:rPr sz="1450" b="1">
                <a:solidFill>
                  <a:srgbClr val="E8EDF5"/>
                </a:solidFill>
                <a:latin typeface="Calibri"/>
              </a:rPr>
              <a:t>+1.2 to +1.6</a:t>
            </a:r>
            <a:r>
              <a:rPr sz="1450" b="0">
                <a:solidFill>
                  <a:srgbClr val="E8EDF5"/>
                </a:solidFill>
                <a:latin typeface="Calibri"/>
              </a:rPr>
              <a:t> overall accuracy from eval-only levers, no architecture change or retraining.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▸  </a:t>
            </a:r>
            <a:r>
              <a:rPr sz="1450" b="0">
                <a:solidFill>
                  <a:srgbClr val="E8EDF5"/>
                </a:solidFill>
                <a:latin typeface="Calibri"/>
              </a:rPr>
              <a:t>Central finding: </a:t>
            </a:r>
            <a:r>
              <a:rPr sz="1450" b="1">
                <a:solidFill>
                  <a:srgbClr val="E8EDF5"/>
                </a:solidFill>
                <a:latin typeface="Calibri"/>
              </a:rPr>
              <a:t>novel-class accuracy (A_N) is the bottleneck</a:t>
            </a:r>
            <a:r>
              <a:rPr sz="1450" b="0">
                <a:solidFill>
                  <a:srgbClr val="E8EDF5"/>
                </a:solidFill>
                <a:latin typeface="Calibri"/>
              </a:rPr>
              <a:t>; the ceiling is backbone quality.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34840"/>
            <a:ext cx="10698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E08A1E"/>
                </a:solidFill>
                <a:latin typeface="Calibri"/>
              </a:rPr>
              <a:t>FUTURE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10698480" cy="14630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E08A1E"/>
                </a:solidFill>
                <a:latin typeface="Calibri"/>
              </a:rPr>
              <a:t>▸  </a:t>
            </a:r>
            <a:r>
              <a:rPr sz="1400" b="0">
                <a:solidFill>
                  <a:srgbClr val="E8EDF5"/>
                </a:solidFill>
                <a:latin typeface="Calibri"/>
              </a:rPr>
              <a:t>Train the frozen backbone to completion on a </a:t>
            </a:r>
            <a:r>
              <a:rPr sz="1400" b="1">
                <a:solidFill>
                  <a:srgbClr val="E8EDF5"/>
                </a:solidFill>
                <a:latin typeface="Calibri"/>
              </a:rPr>
              <a:t>GPU</a:t>
            </a:r>
            <a:r>
              <a:rPr sz="1400" b="0">
                <a:solidFill>
                  <a:srgbClr val="E8EDF5"/>
                </a:solidFill>
                <a:latin typeface="Calibri"/>
              </a:rPr>
              <a:t> (100–200 epochs) to lift A_N and A_B together.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E08A1E"/>
                </a:solidFill>
                <a:latin typeface="Calibri"/>
              </a:rPr>
              <a:t>▸  </a:t>
            </a:r>
            <a:r>
              <a:rPr sz="1400" b="0">
                <a:solidFill>
                  <a:srgbClr val="E8EDF5"/>
                </a:solidFill>
                <a:latin typeface="Calibri"/>
              </a:rPr>
              <a:t>Seed-averaged runs and comparison against published FSCIL baselines.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>
                <a:solidFill>
                  <a:srgbClr val="E08A1E"/>
                </a:solidFill>
                <a:latin typeface="Calibri"/>
              </a:rPr>
              <a:t>▸  </a:t>
            </a:r>
            <a:r>
              <a:rPr sz="1400" b="0">
                <a:solidFill>
                  <a:srgbClr val="E8EDF5"/>
                </a:solidFill>
                <a:latin typeface="Calibri"/>
              </a:rPr>
              <a:t>Extend transductive rectification and explore stronger self-supervised base objectives.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